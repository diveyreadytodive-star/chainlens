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34f195187904165" /><Relationship Type="http://schemas.openxmlformats.org/officeDocument/2006/relationships/extended-properties" Target="/docProps/app.xml" Id="R1ed34c1311d34f3d" /><Relationship Type="http://schemas.openxmlformats.org/officeDocument/2006/relationships/officeDocument" Target="/ppt/presentation.xml" Id="R9410d83036bf4bd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a6140a8dc9746e9"/>
  </p:sldMasterIdLst>
  <p:notesMasterIdLst>
    <p:notesMasterId xmlns:r="http://schemas.openxmlformats.org/officeDocument/2006/relationships" r:id="Ra113519b115140fd"/>
  </p:notesMasterIdLst>
  <p:sldIdLst>
    <p:sldId xmlns:r="http://schemas.openxmlformats.org/officeDocument/2006/relationships" id="256" r:id="R2cd5741d69b0420f"/>
    <p:sldId xmlns:r="http://schemas.openxmlformats.org/officeDocument/2006/relationships" id="257" r:id="R8343bd750b684016"/>
    <p:sldId xmlns:r="http://schemas.openxmlformats.org/officeDocument/2006/relationships" id="258" r:id="Rea3c5b7d1631423d"/>
    <p:sldId xmlns:r="http://schemas.openxmlformats.org/officeDocument/2006/relationships" id="259" r:id="R74941942c07c4575"/>
    <p:sldId xmlns:r="http://schemas.openxmlformats.org/officeDocument/2006/relationships" id="260" r:id="R32e7b5b2608649d5"/>
    <p:sldId xmlns:r="http://schemas.openxmlformats.org/officeDocument/2006/relationships" id="261" r:id="R177c5a630e2347e6"/>
    <p:sldId xmlns:r="http://schemas.openxmlformats.org/officeDocument/2006/relationships" id="262" r:id="R277eb6e00d184fcc"/>
    <p:sldId xmlns:r="http://schemas.openxmlformats.org/officeDocument/2006/relationships" id="263" r:id="R81bb6fc26afe4989"/>
    <p:sldId xmlns:r="http://schemas.openxmlformats.org/officeDocument/2006/relationships" id="264" r:id="Rb7d437dcb7354b59"/>
    <p:sldId xmlns:r="http://schemas.openxmlformats.org/officeDocument/2006/relationships" id="265" r:id="Rf721a6141774473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17072fabf1f473f" /><Relationship Type="http://schemas.openxmlformats.org/officeDocument/2006/relationships/slideMaster" Target="/ppt/slideMasters/slideMaster1.xml" Id="R7a6140a8dc9746e9" /><Relationship Type="http://schemas.openxmlformats.org/officeDocument/2006/relationships/notesMaster" Target="/ppt/notesMasters/notesMaster1.xml" Id="Ra113519b115140fd" /><Relationship Type="http://schemas.openxmlformats.org/officeDocument/2006/relationships/presProps" Target="/ppt/presProps.xml" Id="R4caf76d350b94a81" /><Relationship Type="http://schemas.openxmlformats.org/officeDocument/2006/relationships/tableStyles" Target="/ppt/tableStyles.xml" Id="R388f1d3376ef4996" /><Relationship Type="http://schemas.openxmlformats.org/officeDocument/2006/relationships/slide" Target="/ppt/slides/slide1.xml" Id="R2cd5741d69b0420f" /><Relationship Type="http://schemas.openxmlformats.org/officeDocument/2006/relationships/slide" Target="/ppt/slides/slide2.xml" Id="R8343bd750b684016" /><Relationship Type="http://schemas.openxmlformats.org/officeDocument/2006/relationships/slide" Target="/ppt/slides/slide3.xml" Id="Rea3c5b7d1631423d" /><Relationship Type="http://schemas.openxmlformats.org/officeDocument/2006/relationships/slide" Target="/ppt/slides/slide4.xml" Id="R74941942c07c4575" /><Relationship Type="http://schemas.openxmlformats.org/officeDocument/2006/relationships/slide" Target="/ppt/slides/slide5.xml" Id="R32e7b5b2608649d5" /><Relationship Type="http://schemas.openxmlformats.org/officeDocument/2006/relationships/slide" Target="/ppt/slides/slide6.xml" Id="R177c5a630e2347e6" /><Relationship Type="http://schemas.openxmlformats.org/officeDocument/2006/relationships/slide" Target="/ppt/slides/slide7.xml" Id="R277eb6e00d184fcc" /><Relationship Type="http://schemas.openxmlformats.org/officeDocument/2006/relationships/slide" Target="/ppt/slides/slide8.xml" Id="R81bb6fc26afe4989" /><Relationship Type="http://schemas.openxmlformats.org/officeDocument/2006/relationships/slide" Target="/ppt/slides/slide9.xml" Id="Rb7d437dcb7354b59" /><Relationship Type="http://schemas.openxmlformats.org/officeDocument/2006/relationships/slide" Target="/ppt/slides/slide10.xml" Id="Rf721a6141774473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51ad85d093540e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4c808d4c5344f57" /><Relationship Type="http://schemas.openxmlformats.org/officeDocument/2006/relationships/notesMaster" Target="/ppt/notesMasters/notesMaster1.xml" Id="R00d10886d309473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bf11175be3e434d" /><Relationship Type="http://schemas.openxmlformats.org/officeDocument/2006/relationships/notesMaster" Target="/ppt/notesMasters/notesMaster1.xml" Id="R707f813d702b44e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a76a10a2d7c4e75" /><Relationship Type="http://schemas.openxmlformats.org/officeDocument/2006/relationships/notesMaster" Target="/ppt/notesMasters/notesMaster1.xml" Id="R33a23c27fe354e6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1c2080fb1ef4c0f" /><Relationship Type="http://schemas.openxmlformats.org/officeDocument/2006/relationships/notesMaster" Target="/ppt/notesMasters/notesMaster1.xml" Id="R86d868ca3f5f423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c5e0cdf5ff54b22" /><Relationship Type="http://schemas.openxmlformats.org/officeDocument/2006/relationships/notesMaster" Target="/ppt/notesMasters/notesMaster1.xml" Id="Ra2d7761569a044f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fdd2a536d744881" /><Relationship Type="http://schemas.openxmlformats.org/officeDocument/2006/relationships/notesMaster" Target="/ppt/notesMasters/notesMaster1.xml" Id="R8b6ea5fa47b9455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6667756be624c44" /><Relationship Type="http://schemas.openxmlformats.org/officeDocument/2006/relationships/notesMaster" Target="/ppt/notesMasters/notesMaster1.xml" Id="Rfb7eec2da6c04ea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5db5d810a554efb" /><Relationship Type="http://schemas.openxmlformats.org/officeDocument/2006/relationships/notesMaster" Target="/ppt/notesMasters/notesMaster1.xml" Id="R0deea8a380e8420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eb7866c77824382" /><Relationship Type="http://schemas.openxmlformats.org/officeDocument/2006/relationships/notesMaster" Target="/ppt/notesMasters/notesMaster1.xml" Id="R7ec07dd7c527479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38eb9cec42e4527" /><Relationship Type="http://schemas.openxmlformats.org/officeDocument/2006/relationships/notesMaster" Target="/ppt/notesMasters/notesMaster1.xml" Id="R4e4f2fa16001452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ChainLens는 이미 발생한 Ethereum 거래 기록을 읽는다. 거래를 실행하거나 안전성을 판정하지 않는다. Chrome MV3 확장, 서버, Groq 전용 설명 경로는 구현되어 있으며 실제 Chrome unpacked E2E를 확인했다.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대표 이용 상황을 바탕으로 한 문제 가설이다. 사용자 인터뷰 결과나 사용 비율로 제시하지 않는다. Approval은 spender에 당시 사용 한도를 설정하는 행위로 Transfer와 구분한다.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공식 자료: Etherscan Experimental Feature, Blockscout Interpreter API, Noves Translate Introduction. 한국어 영수증, 원본 근거 연결, 확인 범위 표시는 사용자 검증이 필요한 가설이다. 최초성, 독점성, 성능 우위를 주장하지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실제 Chrome unpacked E2E는 완료했지만 OS 전면창 불일치로 보존된 확장 PNG는 없다. 왼쪽은 기존 웹 MVP 화면이며 확장 화면으로 제시하지 않는다. 실제 관측은 evidence/extension-chrome-e2e.md를 따른다.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실제 사례와 조회 시점은 verification.md와 evidence/rpc-examples.json에 기록한다. 성공 receipt는 사용자 목적 달성을 보장하지 않는다. Approval 이벤트는 당시 설정량이며 현재 allowance를 보장하지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Chrome MV3의 context menu, Shadow DOM 빠른 영수증, Side Panel은 구현되어 있다. API는 safeFacts만 Groq에 전달한다. openai/gpt-oss-20b의 Groq live와 mock, fallback을 검증했다. API 키는 서버 프로세스 환경변수에만 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AI에는 status, category, 전송·승인 존재 여부, 지원 밖 로그, finality만 전달한다. 숫자·주소·금지 표현·길이를 guard한다. guard는 모든 의미 오류를 증명하지 않는다. 실제 Groq live에서 AI 모드와 guard 통과를 확인했다.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사용자 검증 계획이며 아직 모집·측정 전이다. 정답률 20%p 개선 또는 답변 시간 30% 감소는 목표 가설이다. 초기 고객 후보는 지갑·교육 서비스의 온보딩 담당자이며 수익 후보는 B2B 해설 위젯/API다.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Chrome MV3 확장과 ZIP은 현재 구현 완료 항목이다. Chrome Web Store 공개, 공개 backend, 영상, 신청은 수행하지 않았다. 역할 A/B는 제안 분담이며 개인별 경험은 제출 전에 사실 확인이 필요하다.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자세한 근거는 verification.md와 evidence/extension-chrome-e2e.md에 있다. screenshots/는 기존 웹 MVP 5장이고 확장 화면이 아니다. 새 extension PNG를 넣으려면 올바른 Chrome 전면창에서 캡처한 뒤 관측 기록과 대조해야 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b3d991af7f34c9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5ec43cb4aad4437" /><Relationship Type="http://schemas.openxmlformats.org/officeDocument/2006/relationships/slideLayout" Target="/ppt/slideLayouts/slideLayout1.xml" Id="Rf6f4e111c586471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6f4e111c586471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c6bd9169f1448d" /><Relationship Type="http://schemas.openxmlformats.org/officeDocument/2006/relationships/hyperlink" Target="https://github.com/diveyreadytodive-star/chainlens" TargetMode="External" Id="R9706ee4440254d07" /><Relationship Type="http://schemas.openxmlformats.org/officeDocument/2006/relationships/hyperlink" Target="https://chainlens-lyart.vercel.app/" TargetMode="External" Id="Rc762888116eb445b" /><Relationship Type="http://schemas.openxmlformats.org/officeDocument/2006/relationships/hyperlink" Target="https://youtu.be/6VMEIPlQack" TargetMode="External" Id="R740352a845c54c3b" /><Relationship Type="http://schemas.openxmlformats.org/officeDocument/2006/relationships/notesSlide" Target="/ppt/notesSlides/notesSlide1.xml" Id="R73ad3bfe0a4a4aa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c43755bfcf4682" /><Relationship Type="http://schemas.openxmlformats.org/officeDocument/2006/relationships/notesSlide" Target="/ppt/notesSlides/notesSlide2.xml" Id="R1e7d55a9a208462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1f71a9e6664f40" /><Relationship Type="http://schemas.openxmlformats.org/officeDocument/2006/relationships/notesSlide" Target="/ppt/notesSlides/notesSlide3.xml" Id="Rb29e02faff6542f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e28e26fba44c3b" /><Relationship Type="http://schemas.openxmlformats.org/officeDocument/2006/relationships/image" Target="/ppt/media/image.png" Id="R4b2e8e511bc242ef" /><Relationship Type="http://schemas.openxmlformats.org/officeDocument/2006/relationships/notesSlide" Target="/ppt/notesSlides/notesSlide4.xml" Id="R17e8d78b76d2475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8e85386ce441a6" /><Relationship Type="http://schemas.openxmlformats.org/officeDocument/2006/relationships/notesSlide" Target="/ppt/notesSlides/notesSlide5.xml" Id="R135e13855e124d1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9fdf3d1edd4769" /><Relationship Type="http://schemas.openxmlformats.org/officeDocument/2006/relationships/notesSlide" Target="/ppt/notesSlides/notesSlide6.xml" Id="Ra3b83b3ff71b488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becf810a864dc2" /><Relationship Type="http://schemas.openxmlformats.org/officeDocument/2006/relationships/notesSlide" Target="/ppt/notesSlides/notesSlide7.xml" Id="Rd24ad0ff72d1413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bed43ea25441d0" /><Relationship Type="http://schemas.openxmlformats.org/officeDocument/2006/relationships/notesSlide" Target="/ppt/notesSlides/notesSlide8.xml" Id="R7f01791d2ede4de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50d070010b4b6d" /><Relationship Type="http://schemas.openxmlformats.org/officeDocument/2006/relationships/notesSlide" Target="/ppt/notesSlides/notesSlide9.xml" Id="R15d38d1a1220416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995d8330d54bad" /><Relationship Type="http://schemas.openxmlformats.org/officeDocument/2006/relationships/notesSlide" Target="/ppt/notesSlides/notesSlide10.xml" Id="R8f3a7529ef2d4ca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C274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ext-1">
            <a:extLst xmlns:a="http://schemas.openxmlformats.org/drawingml/2006/main">
              <a:ext uri="{FF2B5EF4-FFF2-40B4-BE49-F238E27FC236}">
                <a16:creationId xmlns:a16="http://schemas.microsoft.com/office/drawing/2014/main" id="{B4F26B5B-8CDA-4A26-90C0-13D28FE59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3875"/>
            <a:ext cx="1066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B8D3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B8D3FF"/>
                </a:solidFill>
                <a:latin typeface="Apple SD Gothic Neo"/>
                <a:ea typeface="Apple SD Gothic Neo"/>
                <a:cs typeface="Apple SD Gothic Neo"/>
              </a:rPr>
              <a:t>BLOCK AI 26  AI + 블록체인 융합서비스</a:t>
            </a:r>
          </a:p>
        </p:txBody>
      </p:sp>
      <p:sp>
        <p:nvSpPr>
          <p:cNvPr id="2" name="text-2">
            <a:extLst xmlns:a="http://schemas.openxmlformats.org/drawingml/2006/main">
              <a:ext uri="{FF2B5EF4-FFF2-40B4-BE49-F238E27FC236}">
                <a16:creationId xmlns:a16="http://schemas.microsoft.com/office/drawing/2014/main" id="{83CE3998-9614-4753-B7D4-ED81F8324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5737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66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6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ChainLens</a:t>
            </a:r>
          </a:p>
        </p:txBody>
      </p:sp>
      <p:sp>
        <p:nvSpPr>
          <p:cNvPr id="3" name="text-3">
            <a:extLst xmlns:a="http://schemas.openxmlformats.org/drawingml/2006/main">
              <a:ext uri="{FF2B5EF4-FFF2-40B4-BE49-F238E27FC236}">
                <a16:creationId xmlns:a16="http://schemas.microsoft.com/office/drawing/2014/main" id="{B62B088C-7B95-4803-B668-7FFD21AD2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90512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2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체인렌즈</a:t>
            </a:r>
          </a:p>
        </p:txBody>
      </p:sp>
      <p:sp>
        <p:nvSpPr>
          <p:cNvPr id="4" name="text-4">
            <a:extLst xmlns:a="http://schemas.openxmlformats.org/drawingml/2006/main">
              <a:ext uri="{FF2B5EF4-FFF2-40B4-BE49-F238E27FC236}">
                <a16:creationId xmlns:a16="http://schemas.microsoft.com/office/drawing/2014/main" id="{3FDA3607-7267-4B16-A342-062F33FF3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943350"/>
            <a:ext cx="103822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775" b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75" b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복잡한 거래 기록을</a:t>
            </a:r>
          </a:p>
          <a:p xmlns:a="http://schemas.openxmlformats.org/drawingml/2006/main">
            <a:pPr>
              <a:defRPr sz="2775" b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75" b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근거가 연결된 한국어 영수증으로</a:t>
            </a:r>
          </a:p>
        </p:txBody>
      </p:sp>
      <p:sp>
        <p:nvSpPr>
          <p:cNvPr id="5" name="text-5">
            <a:extLst xmlns:a="http://schemas.openxmlformats.org/drawingml/2006/main">
              <a:ext uri="{FF2B5EF4-FFF2-40B4-BE49-F238E27FC236}">
                <a16:creationId xmlns:a16="http://schemas.microsoft.com/office/drawing/2014/main" id="{16D57244-9628-49BA-9E23-E42158DCB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5048250"/>
            <a:ext cx="1066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B8D3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b="1">
                <a:solidFill>
                  <a:srgbClr val="B8D3FF"/>
                </a:solidFill>
              </a:rPr>
              <a:t>GitHub  </a:t>
            </a:r>
            <a:r>
              <a:rPr u="sng">
                <a:solidFill>
                  <a:srgbClr val="B8D3FF"/>
                </a:solidFill>
                <a:hlinkClick xmlns:r="http://schemas.openxmlformats.org/officeDocument/2006/relationships" r:id="R9706ee4440254d07"/>
              </a:rPr>
              <a:t>github.com/diveyreadytodive-star/chainlens</a:t>
            </a:r>
          </a:p>
        </p:txBody>
      </p:sp>
      <p:sp>
        <p:nvSpPr>
          <p:cNvPr id="6" name="text-6">
            <a:extLst xmlns:a="http://schemas.openxmlformats.org/drawingml/2006/main">
              <a:ext uri="{FF2B5EF4-FFF2-40B4-BE49-F238E27FC236}">
                <a16:creationId xmlns:a16="http://schemas.microsoft.com/office/drawing/2014/main" id="{E83F43E2-C4FB-42C5-AAF9-0D2923930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5267325"/>
            <a:ext cx="1066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B8D3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b="1">
                <a:solidFill>
                  <a:srgbClr val="B8D3FF"/>
                </a:solidFill>
              </a:rPr>
              <a:t>Web Demo  </a:t>
            </a:r>
            <a:r>
              <a:rPr u="sng">
                <a:solidFill>
                  <a:srgbClr val="B8D3FF"/>
                </a:solidFill>
                <a:hlinkClick xmlns:r="http://schemas.openxmlformats.org/officeDocument/2006/relationships" r:id="Rc762888116eb445b"/>
              </a:rPr>
              <a:t>chainlens-lyart.vercel.app</a:t>
            </a:r>
          </a:p>
        </p:txBody>
      </p:sp>
      <p:sp>
        <p:nvSpPr>
          <p:cNvPr id="7" name="text-7">
            <a:extLst xmlns:a="http://schemas.openxmlformats.org/drawingml/2006/main">
              <a:ext uri="{FF2B5EF4-FFF2-40B4-BE49-F238E27FC236}">
                <a16:creationId xmlns:a16="http://schemas.microsoft.com/office/drawing/2014/main" id="{38A2958A-A838-4BDF-9F00-A0CE04007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5486400"/>
            <a:ext cx="1066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B8D3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b="1">
                <a:solidFill>
                  <a:srgbClr val="B8D3FF"/>
                </a:solidFill>
              </a:rPr>
              <a:t>Demo Video  </a:t>
            </a:r>
            <a:r>
              <a:rPr u="sng">
                <a:solidFill>
                  <a:srgbClr val="B8D3FF"/>
                </a:solidFill>
                <a:hlinkClick xmlns:r="http://schemas.openxmlformats.org/officeDocument/2006/relationships" r:id="R740352a845c54c3b"/>
              </a:rPr>
              <a:t>youtu.be/6VMEIPlQack</a:t>
            </a:r>
          </a:p>
        </p:txBody>
      </p:sp>
      <p:sp>
        <p:nvSpPr>
          <p:cNvPr id="8" name="text-8">
            <a:extLst xmlns:a="http://schemas.openxmlformats.org/drawingml/2006/main">
              <a:ext uri="{FF2B5EF4-FFF2-40B4-BE49-F238E27FC236}">
                <a16:creationId xmlns:a16="http://schemas.microsoft.com/office/drawing/2014/main" id="{57D13FCE-D0E5-414E-AF4B-BB2A0374F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5772150"/>
            <a:ext cx="1066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B8D3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B8D3FF"/>
                </a:solidFill>
                <a:latin typeface="Apple SD Gothic Neo"/>
                <a:ea typeface="Apple SD Gothic Neo"/>
                <a:cs typeface="Apple SD Gothic Neo"/>
              </a:rPr>
              <a:t>Chrome MV3 확장 · Ethereum 거래 해석 · AI API 설명 경로</a:t>
            </a:r>
          </a:p>
        </p:txBody>
      </p:sp>
      <p:sp>
        <p:nvSpPr>
          <p:cNvPr id="9" name="text-9">
            <a:extLst xmlns:a="http://schemas.openxmlformats.org/drawingml/2006/main">
              <a:ext uri="{FF2B5EF4-FFF2-40B4-BE49-F238E27FC236}">
                <a16:creationId xmlns:a16="http://schemas.microsoft.com/office/drawing/2014/main" id="{59702689-FDDE-40C0-BDAD-A8266E117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6181725"/>
            <a:ext cx="10668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B8D3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B8D3FF"/>
                </a:solidFill>
                <a:latin typeface="Apple SD Gothic Neo"/>
                <a:ea typeface="Apple SD Gothic Neo"/>
                <a:cs typeface="Apple SD Gothic Neo"/>
              </a:rPr>
              <a:t>팀 헐크호건 (아주대학교 박건, 가천대학교 서호)</a:t>
            </a:r>
          </a:p>
        </p:txBody>
      </p:sp>
    </p:spTree>
    <p:extLst>
      <p:ext uri="{BB962C8B-B14F-4D97-AF65-F5344CB8AC3E}">
        <p14:creationId xmlns:p14="http://schemas.microsoft.com/office/powerpoint/2010/main" val="57010029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ext-10">
            <a:extLst xmlns:a="http://schemas.openxmlformats.org/drawingml/2006/main">
              <a:ext uri="{FF2B5EF4-FFF2-40B4-BE49-F238E27FC236}">
                <a16:creationId xmlns:a16="http://schemas.microsoft.com/office/drawing/2014/main" id="{7FE41070-20AC-4F73-8DF9-3B1C9F903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1000"/>
            <a:ext cx="10953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rPr>
              <a:t>성공 표시만으로는 거래의 의미를 알기 어렵습니다</a:t>
            </a:r>
          </a:p>
        </p:txBody>
      </p:sp>
      <p:sp>
        <p:nvSpPr>
          <p:cNvPr id="2" name="text-11">
            <a:extLst xmlns:a="http://schemas.openxmlformats.org/drawingml/2006/main">
              <a:ext uri="{FF2B5EF4-FFF2-40B4-BE49-F238E27FC236}">
                <a16:creationId xmlns:a16="http://schemas.microsoft.com/office/drawing/2014/main" id="{6B043941-7115-4EA3-9125-997AE791E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rPr>
              <a:t>처음 토큰 서비스를 이용한 사용자가 탐색기 기록에서 마주하는 문제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3E6701-ED50-491D-8B2D-11D9A104B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1095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6E0EC"/>
            </a:solidFill>
          </a:ln>
        </p:spPr>
      </p:sp>
      <p:sp>
        <p:nvSpPr>
          <p:cNvPr id="4" name="text-12">
            <a:extLst xmlns:a="http://schemas.openxmlformats.org/drawingml/2006/main">
              <a:ext uri="{FF2B5EF4-FFF2-40B4-BE49-F238E27FC236}">
                <a16:creationId xmlns:a16="http://schemas.microsoft.com/office/drawing/2014/main" id="{99180041-541B-408F-B465-906026E30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rPr>
              <a:t>ChainLens  체인렌즈</a:t>
            </a:r>
          </a:p>
        </p:txBody>
      </p:sp>
      <p:sp>
        <p:nvSpPr>
          <p:cNvPr id="5" name="text-13">
            <a:extLst xmlns:a="http://schemas.openxmlformats.org/drawingml/2006/main">
              <a:ext uri="{FF2B5EF4-FFF2-40B4-BE49-F238E27FC236}">
                <a16:creationId xmlns:a16="http://schemas.microsoft.com/office/drawing/2014/main" id="{BA86A220-3406-468A-A2FA-F544966B6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23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6" name="text-14">
            <a:extLst xmlns:a="http://schemas.openxmlformats.org/drawingml/2006/main">
              <a:ext uri="{FF2B5EF4-FFF2-40B4-BE49-F238E27FC236}">
                <a16:creationId xmlns:a16="http://schemas.microsoft.com/office/drawing/2014/main" id="{50E0FDB4-C89F-4E89-B8A9-C01AAAF7D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60960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450" b="1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rPr>
              <a:t>“승인했는데,</a:t>
            </a:r>
          </a:p>
          <a:p xmlns:a="http://schemas.openxmlformats.org/drawingml/2006/main">
            <a:pPr>
              <a:defRPr sz="3450" b="1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450" b="1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rPr>
              <a:t>토큰을 보낸 건가요?”</a:t>
            </a:r>
          </a:p>
        </p:txBody>
      </p:sp>
      <p:sp>
        <p:nvSpPr>
          <p:cNvPr id="7" name="text-15">
            <a:extLst xmlns:a="http://schemas.openxmlformats.org/drawingml/2006/main">
              <a:ext uri="{FF2B5EF4-FFF2-40B4-BE49-F238E27FC236}">
                <a16:creationId xmlns:a16="http://schemas.microsoft.com/office/drawing/2014/main" id="{19312CE4-C87E-42D1-8F27-A61B3917C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43275"/>
            <a:ext cx="6191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72B4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0">
                <a:solidFill>
                  <a:srgbClr val="172B45"/>
                </a:solidFill>
                <a:latin typeface="Apple SD Gothic Neo"/>
                <a:ea typeface="Apple SD Gothic Neo"/>
                <a:cs typeface="Apple SD Gothic Neo"/>
              </a:rPr>
              <a:t>Success, 주소, 이벤트 로그는 보이지만</a:t>
            </a:r>
          </a:p>
          <a:p xmlns:a="http://schemas.openxmlformats.org/drawingml/2006/main">
            <a:pPr>
              <a:defRPr sz="2175" b="0">
                <a:solidFill>
                  <a:srgbClr val="172B4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0">
                <a:solidFill>
                  <a:srgbClr val="172B45"/>
                </a:solidFill>
                <a:latin typeface="Apple SD Gothic Neo"/>
                <a:ea typeface="Apple SD Gothic Neo"/>
                <a:cs typeface="Apple SD Gothic Neo"/>
              </a:rPr>
              <a:t>전송과 사용 권한 설정은 바로 구분하기 어렵습니다.</a:t>
            </a:r>
          </a:p>
        </p:txBody>
      </p:sp>
      <p:graphicFrame>
        <p:nvGraphicFramePr>
          <p:cNvPr id="18" name=""/>
          <p:cNvGraphicFramePr/>
          <p:nvPr/>
        </p:nvGraphicFramePr>
        <p:xfrm>
          <a:off xmlns:a="http://schemas.openxmlformats.org/drawingml/2006/main" x="7124700" y="1676400"/>
          <a:ext xmlns:a="http://schemas.openxmlformats.org/drawingml/2006/main" cx="4438650" cy="2952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09800"/>
                <a:gridCol w="2228850"/>
              </a:tblGrid>
              <a:tr h="73818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사용자가 알고 싶은 것</a:t>
                      </a:r>
                    </a:p>
                  </a:txBody>
                  <a:tcPr marL="142875" marR="142875" marT="104775" marB="95250" anchor="ctr">
                    <a:solidFill>
                      <a:srgbClr val="0C274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읽어야 하는 원본</a:t>
                      </a:r>
                    </a:p>
                  </a:txBody>
                  <a:tcPr marL="142875" marR="142875" marT="104775" marB="95250" anchor="ctr">
                    <a:solidFill>
                      <a:srgbClr val="0C274B"/>
                    </a:solidFill>
                  </a:tcPr>
                </a:tc>
              </a:tr>
              <a:tr h="73818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172B4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어떤 자산이 어디로 이동했나?</a:t>
                      </a:r>
                    </a:p>
                  </a:txBody>
                  <a:tcPr marL="142875" marR="142875" marT="104775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172B4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transaction value, Transfer 이벤트</a:t>
                      </a:r>
                    </a:p>
                  </a:txBody>
                  <a:tcPr marL="142875" marR="142875" marT="104775" marB="95250" anchor="ctr">
                    <a:solidFill>
                      <a:srgbClr val="FFFFFF"/>
                    </a:solidFill>
                  </a:tcPr>
                </a:tc>
              </a:tr>
              <a:tr h="73818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172B4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돈을 보냈나, 사용 권한을 줬나?</a:t>
                      </a:r>
                    </a:p>
                  </a:txBody>
                  <a:tcPr marL="142875" marR="142875" marT="104775" marB="95250" anchor="ctr">
                    <a:solidFill>
                      <a:srgbClr val="F7F9FC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172B4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Approval 이벤트</a:t>
                      </a:r>
                    </a:p>
                  </a:txBody>
                  <a:tcPr marL="142875" marR="142875" marT="104775" marB="95250" anchor="ctr">
                    <a:solidFill>
                      <a:srgbClr val="F7F9FC"/>
                    </a:solidFill>
                  </a:tcPr>
                </a:tc>
              </a:tr>
              <a:tr h="73818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172B4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실행 결과와 수수료는 무엇인가?</a:t>
                      </a:r>
                    </a:p>
                  </a:txBody>
                  <a:tcPr marL="142875" marR="142875" marT="104775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172B4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receipt status, gasUsed, effectiveGasPrice</a:t>
                      </a:r>
                    </a:p>
                  </a:txBody>
                  <a:tcPr marL="142875" marR="142875" marT="104775" marB="952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-16">
            <a:extLst xmlns:a="http://schemas.openxmlformats.org/drawingml/2006/main">
              <a:ext uri="{FF2B5EF4-FFF2-40B4-BE49-F238E27FC236}">
                <a16:creationId xmlns:a16="http://schemas.microsoft.com/office/drawing/2014/main" id="{62C31586-AE16-432B-B1D6-7365C171B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53025"/>
            <a:ext cx="1066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463D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463DF"/>
                </a:solidFill>
                <a:latin typeface="Apple SD Gothic Neo"/>
                <a:ea typeface="Apple SD Gothic Neo"/>
                <a:cs typeface="Apple SD Gothic Neo"/>
              </a:rPr>
              <a:t>해시를 찾은 자리에서 짧은 영수증을 읽고, 필요할 때 원본 근거까지 확인합니다.</a:t>
            </a:r>
          </a:p>
        </p:txBody>
      </p:sp>
      <p:sp>
        <p:nvSpPr>
          <p:cNvPr id="10" name="text-17">
            <a:extLst xmlns:a="http://schemas.openxmlformats.org/drawingml/2006/main">
              <a:ext uri="{FF2B5EF4-FFF2-40B4-BE49-F238E27FC236}">
                <a16:creationId xmlns:a16="http://schemas.microsoft.com/office/drawing/2014/main" id="{FF29B382-2AEF-4B17-904F-42EB0B8F5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95975"/>
            <a:ext cx="10668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rPr>
              <a:t>대표 이용 상황을 바탕으로 한 문제 가설입니다. 사용자 인터뷰와 이해도 실험은 아직 진행하지 않았습니다.</a:t>
            </a:r>
          </a:p>
        </p:txBody>
      </p:sp>
    </p:spTree>
    <p:extLst>
      <p:ext uri="{BB962C8B-B14F-4D97-AF65-F5344CB8AC3E}">
        <p14:creationId xmlns:p14="http://schemas.microsoft.com/office/powerpoint/2010/main" val="42911238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ext-18">
            <a:extLst xmlns:a="http://schemas.openxmlformats.org/drawingml/2006/main">
              <a:ext uri="{FF2B5EF4-FFF2-40B4-BE49-F238E27FC236}">
                <a16:creationId xmlns:a16="http://schemas.microsoft.com/office/drawing/2014/main" id="{1E65AB42-8E06-4259-98F3-F4A27B9B8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1000"/>
            <a:ext cx="10953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rPr>
              <a:t>거래 요약은 이미 있습니다. 체인렌즈는 이해와 확인을 연결합니다</a:t>
            </a:r>
          </a:p>
        </p:txBody>
      </p:sp>
      <p:sp>
        <p:nvSpPr>
          <p:cNvPr id="2" name="text-19">
            <a:extLst xmlns:a="http://schemas.openxmlformats.org/drawingml/2006/main">
              <a:ext uri="{FF2B5EF4-FFF2-40B4-BE49-F238E27FC236}">
                <a16:creationId xmlns:a16="http://schemas.microsoft.com/office/drawing/2014/main" id="{BF13B96F-C4B7-4CBB-9971-B1C407CC8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rPr>
              <a:t>기존 기능과 겹치는 부분을 인정하고, 한국어 영수증과 근거 연결을 검증합니다.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BC8173-2B32-4599-B1CE-C5968943E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1095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6E0EC"/>
            </a:solidFill>
          </a:ln>
        </p:spPr>
      </p:sp>
      <p:sp>
        <p:nvSpPr>
          <p:cNvPr id="4" name="text-20">
            <a:extLst xmlns:a="http://schemas.openxmlformats.org/drawingml/2006/main">
              <a:ext uri="{FF2B5EF4-FFF2-40B4-BE49-F238E27FC236}">
                <a16:creationId xmlns:a16="http://schemas.microsoft.com/office/drawing/2014/main" id="{53D58D0D-BFD7-47A7-BC4E-96C187E6B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rPr>
              <a:t>ChainLens  체인렌즈</a:t>
            </a:r>
          </a:p>
        </p:txBody>
      </p:sp>
      <p:sp>
        <p:nvSpPr>
          <p:cNvPr id="5" name="text-21">
            <a:extLst xmlns:a="http://schemas.openxmlformats.org/drawingml/2006/main">
              <a:ext uri="{FF2B5EF4-FFF2-40B4-BE49-F238E27FC236}">
                <a16:creationId xmlns:a16="http://schemas.microsoft.com/office/drawing/2014/main" id="{7ABE8CFE-C470-4602-A494-D72344440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23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graphicFrame>
        <p:nvGraphicFramePr>
          <p:cNvPr id="15" name=""/>
          <p:cNvGraphicFramePr/>
          <p:nvPr/>
        </p:nvGraphicFramePr>
        <p:xfrm>
          <a:off xmlns:a="http://schemas.openxmlformats.org/drawingml/2006/main" x="609600" y="1657350"/>
          <a:ext xmlns:a="http://schemas.openxmlformats.org/drawingml/2006/main" cx="10953750" cy="2667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86125"/>
                <a:gridCol w="7667625"/>
              </a:tblGrid>
              <a:tr h="6667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기존 서비스</a:t>
                      </a:r>
                    </a:p>
                  </a:txBody>
                  <a:tcPr marL="142875" marR="142875" marT="104775" marB="95250" anchor="ctr">
                    <a:solidFill>
                      <a:srgbClr val="0C274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공식 문서에서 확인한 기능</a:t>
                      </a:r>
                    </a:p>
                  </a:txBody>
                  <a:tcPr marL="142875" marR="142875" marT="104775" marB="95250" anchor="ctr">
                    <a:solidFill>
                      <a:srgbClr val="0C274B"/>
                    </a:solidFill>
                  </a:tcPr>
                </a:tc>
              </a:tr>
              <a:tr h="6667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172B4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Etherscan Transaction Action</a:t>
                      </a:r>
                    </a:p>
                  </a:txBody>
                  <a:tcPr marL="142875" marR="142875" marT="104775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172B4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선별된 거래 행위 표시, 해당 행위가 없는 거래의 AI 요약</a:t>
                      </a:r>
                    </a:p>
                  </a:txBody>
                  <a:tcPr marL="142875" marR="142875" marT="104775" marB="95250" anchor="ctr"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172B4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Blockscout Interpreter</a:t>
                      </a:r>
                    </a:p>
                  </a:txBody>
                  <a:tcPr marL="142875" marR="142875" marT="104775" marB="95250" anchor="ctr">
                    <a:solidFill>
                      <a:srgbClr val="F7F9FC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172B4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거래 데이터·디코딩·메타데이터 기반 요약, 규칙 분류와 LLM 보완</a:t>
                      </a:r>
                    </a:p>
                  </a:txBody>
                  <a:tcPr marL="142875" marR="142875" marT="104775" marB="95250" anchor="ctr">
                    <a:solidFill>
                      <a:srgbClr val="F7F9FC"/>
                    </a:solidFill>
                  </a:tcPr>
                </a:tc>
              </a:tr>
              <a:tr h="6667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172B4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Noves Translate</a:t>
                      </a:r>
                    </a:p>
                  </a:txBody>
                  <a:tcPr marL="142875" marR="142875" marT="104775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172B4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거래를 표준 유형으로 분류하는 해석 API</a:t>
                      </a:r>
                    </a:p>
                  </a:txBody>
                  <a:tcPr marL="142875" marR="142875" marT="104775" marB="952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-22">
            <a:extLst xmlns:a="http://schemas.openxmlformats.org/drawingml/2006/main">
              <a:ext uri="{FF2B5EF4-FFF2-40B4-BE49-F238E27FC236}">
                <a16:creationId xmlns:a16="http://schemas.microsoft.com/office/drawing/2014/main" id="{0817A693-CFA5-4F1F-B05E-B824A4A1B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053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463D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1463DF"/>
                </a:solidFill>
                <a:latin typeface="Apple SD Gothic Neo"/>
                <a:ea typeface="Apple SD Gothic Neo"/>
                <a:cs typeface="Apple SD Gothic Neo"/>
              </a:rPr>
              <a:t>차별화 가설</a:t>
            </a:r>
          </a:p>
        </p:txBody>
      </p:sp>
      <p:sp>
        <p:nvSpPr>
          <p:cNvPr id="8" name="text-23">
            <a:extLst xmlns:a="http://schemas.openxmlformats.org/drawingml/2006/main">
              <a:ext uri="{FF2B5EF4-FFF2-40B4-BE49-F238E27FC236}">
                <a16:creationId xmlns:a16="http://schemas.microsoft.com/office/drawing/2014/main" id="{44BDC80A-C351-4085-9603-2E1D996D7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72075"/>
            <a:ext cx="7048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B4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172B45"/>
                </a:solidFill>
                <a:latin typeface="Apple SD Gothic Neo"/>
                <a:ea typeface="Apple SD Gothic Neo"/>
                <a:cs typeface="Apple SD Gothic Neo"/>
              </a:rPr>
              <a:t>자산·권한·수수료를 초보자의 질문 순서로 분리하고,</a:t>
            </a:r>
          </a:p>
          <a:p xmlns:a="http://schemas.openxmlformats.org/drawingml/2006/main">
            <a:pPr>
              <a:defRPr sz="2100" b="0">
                <a:solidFill>
                  <a:srgbClr val="172B4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172B45"/>
                </a:solidFill>
                <a:latin typeface="Apple SD Gothic Neo"/>
                <a:ea typeface="Apple SD Gothic Neo"/>
                <a:cs typeface="Apple SD Gothic Neo"/>
              </a:rPr>
              <a:t>설명마다 원본 근거와 확인 수준을 연결합니다.</a:t>
            </a:r>
          </a:p>
        </p:txBody>
      </p:sp>
      <p:sp>
        <p:nvSpPr>
          <p:cNvPr id="9" name="text-24">
            <a:extLst xmlns:a="http://schemas.openxmlformats.org/drawingml/2006/main">
              <a:ext uri="{FF2B5EF4-FFF2-40B4-BE49-F238E27FC236}">
                <a16:creationId xmlns:a16="http://schemas.microsoft.com/office/drawing/2014/main" id="{B424B1B5-2BDE-49FB-907D-84FC750FB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5191125"/>
            <a:ext cx="3333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463D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463DF"/>
                </a:solidFill>
                <a:latin typeface="Apple SD Gothic Neo"/>
                <a:ea typeface="Apple SD Gothic Neo"/>
                <a:cs typeface="Apple SD Gothic Neo"/>
              </a:rPr>
              <a:t>빠른 영수증과</a:t>
            </a:r>
          </a:p>
          <a:p xmlns:a="http://schemas.openxmlformats.org/drawingml/2006/main">
            <a:pPr>
              <a:defRPr sz="1800" b="1">
                <a:solidFill>
                  <a:srgbClr val="1463D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463DF"/>
                </a:solidFill>
                <a:latin typeface="Apple SD Gothic Neo"/>
                <a:ea typeface="Apple SD Gothic Neo"/>
                <a:cs typeface="Apple SD Gothic Neo"/>
              </a:rPr>
              <a:t>오른쪽 근거 패널을 잇는</a:t>
            </a:r>
          </a:p>
          <a:p xmlns:a="http://schemas.openxmlformats.org/drawingml/2006/main">
            <a:pPr>
              <a:defRPr sz="1800" b="1">
                <a:solidFill>
                  <a:srgbClr val="1463D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463DF"/>
                </a:solidFill>
                <a:latin typeface="Apple SD Gothic Neo"/>
                <a:ea typeface="Apple SD Gothic Neo"/>
                <a:cs typeface="Apple SD Gothic Neo"/>
              </a:rPr>
              <a:t>Chrome 경험</a:t>
            </a:r>
          </a:p>
        </p:txBody>
      </p:sp>
    </p:spTree>
    <p:extLst>
      <p:ext uri="{BB962C8B-B14F-4D97-AF65-F5344CB8AC3E}">
        <p14:creationId xmlns:p14="http://schemas.microsoft.com/office/powerpoint/2010/main" val="7474469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ext-25">
            <a:extLst xmlns:a="http://schemas.openxmlformats.org/drawingml/2006/main">
              <a:ext uri="{FF2B5EF4-FFF2-40B4-BE49-F238E27FC236}">
                <a16:creationId xmlns:a16="http://schemas.microsoft.com/office/drawing/2014/main" id="{1D99BF04-A9BE-44ED-8E72-79DAA31B6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1000"/>
            <a:ext cx="10953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rPr>
              <a:t>드래그·우클릭하면, 바로 거래 영수증을 봅니다</a:t>
            </a:r>
          </a:p>
        </p:txBody>
      </p:sp>
      <p:sp>
        <p:nvSpPr>
          <p:cNvPr id="2" name="text-26">
            <a:extLst xmlns:a="http://schemas.openxmlformats.org/drawingml/2006/main">
              <a:ext uri="{FF2B5EF4-FFF2-40B4-BE49-F238E27FC236}">
                <a16:creationId xmlns:a16="http://schemas.microsoft.com/office/drawing/2014/main" id="{0454DEBB-4707-4919-A1F1-3EE6A98E8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rPr>
              <a:t>현재 웹 MVP 화면과 실제로 구현·검증한 Chrome 확장 흐름을 구분해 제시합니다.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D8A478-9D19-4073-9C31-411D4B8F8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1095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6E0EC"/>
            </a:solidFill>
          </a:ln>
        </p:spPr>
      </p:sp>
      <p:sp>
        <p:nvSpPr>
          <p:cNvPr id="4" name="text-27">
            <a:extLst xmlns:a="http://schemas.openxmlformats.org/drawingml/2006/main">
              <a:ext uri="{FF2B5EF4-FFF2-40B4-BE49-F238E27FC236}">
                <a16:creationId xmlns:a16="http://schemas.microsoft.com/office/drawing/2014/main" id="{0B8814CD-746C-4C1A-96A0-772C5ECB5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rPr>
              <a:t>ChainLens  체인렌즈</a:t>
            </a:r>
          </a:p>
        </p:txBody>
      </p:sp>
      <p:sp>
        <p:nvSpPr>
          <p:cNvPr id="5" name="text-28">
            <a:extLst xmlns:a="http://schemas.openxmlformats.org/drawingml/2006/main">
              <a:ext uri="{FF2B5EF4-FFF2-40B4-BE49-F238E27FC236}">
                <a16:creationId xmlns:a16="http://schemas.microsoft.com/office/drawing/2014/main" id="{A6E201BF-BD35-415B-9A40-645A36E77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23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2e8e511bc242ef"/>
          <a:srcRect xmlns:a="http://schemas.openxmlformats.org/drawingml/2006/main" l="77" t="0" r="77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9600" y="2143125"/>
            <a:ext cx="6162675" cy="2657475"/>
          </a:xfrm>
          <a:prstGeom xmlns:a="http://schemas.openxmlformats.org/drawingml/2006/main" prst="rect">
            <a:avLst/>
          </a:prstGeom>
        </p:spPr>
      </p:pic>
      <p:sp>
        <p:nvSpPr>
          <p:cNvPr id="7" name="text-29">
            <a:extLst xmlns:a="http://schemas.openxmlformats.org/drawingml/2006/main">
              <a:ext uri="{FF2B5EF4-FFF2-40B4-BE49-F238E27FC236}">
                <a16:creationId xmlns:a16="http://schemas.microsoft.com/office/drawing/2014/main" id="{25387D84-FFD7-451E-9A4B-800A2CFC3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00625"/>
            <a:ext cx="61436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rPr>
              <a:t>기존 웹 MVP 성공 거래 화면 (확장 UI가 아님)</a:t>
            </a:r>
          </a:p>
        </p:txBody>
      </p:sp>
      <p:sp>
        <p:nvSpPr>
          <p:cNvPr id="8" name="text-30">
            <a:extLst xmlns:a="http://schemas.openxmlformats.org/drawingml/2006/main">
              <a:ext uri="{FF2B5EF4-FFF2-40B4-BE49-F238E27FC236}">
                <a16:creationId xmlns:a16="http://schemas.microsoft.com/office/drawing/2014/main" id="{AC97DE62-3DC5-40F3-ACFD-31AE512B6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9545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463D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1463DF"/>
                </a:solidFill>
                <a:latin typeface="Apple SD Gothic Neo"/>
                <a:ea typeface="Apple SD Gothic Neo"/>
                <a:cs typeface="Apple SD Gothic Neo"/>
              </a:rPr>
              <a:t>Chrome 확장 실제 흐름</a:t>
            </a:r>
          </a:p>
        </p:txBody>
      </p:sp>
      <p:sp>
        <p:nvSpPr>
          <p:cNvPr id="9" name="node-31">
            <a:extLst xmlns:a="http://schemas.openxmlformats.org/drawingml/2006/main">
              <a:ext uri="{FF2B5EF4-FFF2-40B4-BE49-F238E27FC236}">
                <a16:creationId xmlns:a16="http://schemas.microsoft.com/office/drawing/2014/main" id="{0FCA543E-0DBC-4CB1-A215-0FF9ABC49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305050"/>
            <a:ext cx="1219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F"/>
          </a:solidFill>
          <a:ln xmlns:a="http://schemas.openxmlformats.org/drawingml/2006/main" w="11906">
            <a:solidFill>
              <a:srgbClr val="D6E0EC"/>
            </a:solidFill>
          </a:ln>
        </p:spPr>
        <p:txBody>
          <a:bodyPr xmlns:a="http://schemas.openxmlformats.org/drawingml/2006/main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</a:p>
          <a:p xmlns:a="http://schemas.openxmlformats.org/drawingml/2006/main">
            <a:pPr algn="ctr">
              <a:defRPr sz="1500" b="0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rPr>
              <a:t>해시 선택</a:t>
            </a:r>
          </a:p>
        </p:txBody>
      </p:sp>
      <p:sp>
        <p:nvSpPr>
          <p:cNvPr id="10" name="node-32">
            <a:extLst xmlns:a="http://schemas.openxmlformats.org/drawingml/2006/main">
              <a:ext uri="{FF2B5EF4-FFF2-40B4-BE49-F238E27FC236}">
                <a16:creationId xmlns:a16="http://schemas.microsoft.com/office/drawing/2014/main" id="{78C794B6-B997-411D-B4FE-2769159F5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305050"/>
            <a:ext cx="1219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F"/>
          </a:solidFill>
          <a:ln xmlns:a="http://schemas.openxmlformats.org/drawingml/2006/main" w="11906">
            <a:solidFill>
              <a:srgbClr val="D6E0EC"/>
            </a:solidFill>
          </a:ln>
        </p:spPr>
        <p:txBody>
          <a:bodyPr xmlns:a="http://schemas.openxmlformats.org/drawingml/2006/main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rPr>
              <a:t>2</a:t>
            </a:r>
          </a:p>
          <a:p xmlns:a="http://schemas.openxmlformats.org/drawingml/2006/main">
            <a:pPr algn="ctr">
              <a:defRPr sz="1500" b="0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rPr>
              <a:t>우클릭 메뉴</a:t>
            </a:r>
          </a:p>
        </p:txBody>
      </p:sp>
      <p:sp>
        <p:nvSpPr>
          <p:cNvPr id="11" name="node-33">
            <a:extLst xmlns:a="http://schemas.openxmlformats.org/drawingml/2006/main">
              <a:ext uri="{FF2B5EF4-FFF2-40B4-BE49-F238E27FC236}">
                <a16:creationId xmlns:a16="http://schemas.microsoft.com/office/drawing/2014/main" id="{D9B89527-51C7-411B-A783-418F2E487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2305050"/>
            <a:ext cx="13525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F"/>
          </a:solidFill>
          <a:ln xmlns:a="http://schemas.openxmlformats.org/drawingml/2006/main" w="11906">
            <a:solidFill>
              <a:srgbClr val="D6E0EC"/>
            </a:solidFill>
          </a:ln>
        </p:spPr>
        <p:txBody>
          <a:bodyPr xmlns:a="http://schemas.openxmlformats.org/drawingml/2006/main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</a:p>
          <a:p xmlns:a="http://schemas.openxmlformats.org/drawingml/2006/main">
            <a:pPr algn="ctr">
              <a:defRPr sz="1500" b="0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rPr>
              <a:t>Shadow DOM</a:t>
            </a:r>
          </a:p>
          <a:p xmlns:a="http://schemas.openxmlformats.org/drawingml/2006/main">
            <a:pPr algn="ctr">
              <a:defRPr sz="1500" b="0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rPr>
              <a:t>빠른 영수증</a:t>
            </a:r>
          </a:p>
        </p:txBody>
      </p:sp>
      <p:sp>
        <p:nvSpPr>
          <p:cNvPr id="12" name="node-34">
            <a:extLst xmlns:a="http://schemas.openxmlformats.org/drawingml/2006/main">
              <a:ext uri="{FF2B5EF4-FFF2-40B4-BE49-F238E27FC236}">
                <a16:creationId xmlns:a16="http://schemas.microsoft.com/office/drawing/2014/main" id="{14DC5E89-812F-4163-A192-02E11433A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676650"/>
            <a:ext cx="15430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4ED"/>
          </a:solidFill>
          <a:ln xmlns:a="http://schemas.openxmlformats.org/drawingml/2006/main" w="11906">
            <a:solidFill>
              <a:srgbClr val="9FCBB1"/>
            </a:solidFill>
          </a:ln>
        </p:spPr>
        <p:txBody>
          <a:bodyPr xmlns:a="http://schemas.openxmlformats.org/drawingml/2006/main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rPr>
              <a:t>4</a:t>
            </a:r>
          </a:p>
          <a:p xmlns:a="http://schemas.openxmlformats.org/drawingml/2006/main">
            <a:pPr algn="ctr">
              <a:defRPr sz="1500" b="0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rPr>
              <a:t>오른쪽</a:t>
            </a:r>
          </a:p>
          <a:p xmlns:a="http://schemas.openxmlformats.org/drawingml/2006/main">
            <a:pPr algn="ctr">
              <a:defRPr sz="1500" b="0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rPr>
              <a:t>Side Panel</a:t>
            </a:r>
          </a:p>
        </p:txBody>
      </p:sp>
      <p:cxnSp>
        <p:nvCxnSpPr>
          <p:cNvPr id="30" name=""/>
          <p:cNvCxnSpPr>
            <a:stCxn xmlns:a="http://schemas.openxmlformats.org/drawingml/2006/main" id="9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8458200" y="269557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463DF"/>
            </a:solidFill>
            <a:tailEnd type="arrow" w="med" len="med"/>
          </a:ln>
        </p:spPr>
      </p:cxnSp>
      <p:cxnSp>
        <p:nvCxnSpPr>
          <p:cNvPr id="31" name=""/>
          <p:cNvCxnSpPr>
            <a:stCxn xmlns:a="http://schemas.openxmlformats.org/drawingml/2006/main" id="10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9944100" y="269557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463DF"/>
            </a:solidFill>
            <a:tailEnd type="arrow" w="med" len="med"/>
          </a:ln>
        </p:spPr>
      </p:cxnSp>
      <p:cxnSp>
        <p:nvCxnSpPr>
          <p:cNvPr id="32" name=""/>
          <p:cNvCxnSpPr>
            <a:stCxn xmlns:a="http://schemas.openxmlformats.org/drawingml/2006/main" id="11" idx="2"/>
            <a:endCxn xmlns:a="http://schemas.openxmlformats.org/drawingml/2006/main" id="12" idx="3"/>
          </p:cNvCxnSpPr>
          <p:nvPr/>
        </p:nvCxnSpPr>
        <p:spPr>
          <a:xfrm xmlns:a="http://schemas.openxmlformats.org/drawingml/2006/main" flipH="1">
            <a:off x="10267950" y="3086100"/>
            <a:ext cx="619125" cy="10191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463DF"/>
            </a:solidFill>
            <a:tailEnd type="arrow" w="med" len="med"/>
          </a:ln>
        </p:spPr>
      </p:cxnSp>
      <p:sp>
        <p:nvSpPr>
          <p:cNvPr id="16" name="text-35">
            <a:extLst xmlns:a="http://schemas.openxmlformats.org/drawingml/2006/main">
              <a:ext uri="{FF2B5EF4-FFF2-40B4-BE49-F238E27FC236}">
                <a16:creationId xmlns:a16="http://schemas.microsoft.com/office/drawing/2014/main" id="{E0DA2DC9-054C-4F29-8B6A-DFA11525B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810125"/>
            <a:ext cx="4286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172B4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72B45"/>
                </a:solidFill>
                <a:latin typeface="Apple SD Gothic Neo"/>
                <a:ea typeface="Apple SD Gothic Neo"/>
                <a:cs typeface="Apple SD Gothic Neo"/>
              </a:rPr>
              <a:t>Etherscan·Ethereum Blockscout 지원</a:t>
            </a:r>
          </a:p>
          <a:p xmlns:a="http://schemas.openxmlformats.org/drawingml/2006/main">
            <a:pPr>
              <a:defRPr sz="1575" b="0">
                <a:solidFill>
                  <a:srgbClr val="172B4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72B45"/>
                </a:solidFill>
                <a:latin typeface="Apple SD Gothic Neo"/>
                <a:ea typeface="Apple SD Gothic Neo"/>
                <a:cs typeface="Apple SD Gothic Neo"/>
              </a:rPr>
              <a:t>확장 아이콘이 URL을 인식해 같은</a:t>
            </a:r>
          </a:p>
          <a:p xmlns:a="http://schemas.openxmlformats.org/drawingml/2006/main">
            <a:pPr>
              <a:defRPr sz="1575" b="0">
                <a:solidFill>
                  <a:srgbClr val="172B4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72B45"/>
                </a:solidFill>
                <a:latin typeface="Apple SD Gothic Neo"/>
                <a:ea typeface="Apple SD Gothic Neo"/>
                <a:cs typeface="Apple SD Gothic Neo"/>
              </a:rPr>
              <a:t>Side Panel을 엽니다.</a:t>
            </a:r>
          </a:p>
        </p:txBody>
      </p:sp>
      <p:sp>
        <p:nvSpPr>
          <p:cNvPr id="17" name="text-36">
            <a:extLst xmlns:a="http://schemas.openxmlformats.org/drawingml/2006/main">
              <a:ext uri="{FF2B5EF4-FFF2-40B4-BE49-F238E27FC236}">
                <a16:creationId xmlns:a16="http://schemas.microsoft.com/office/drawing/2014/main" id="{2C45347C-B150-4A74-8A33-D9D87B09D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810250"/>
            <a:ext cx="428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rPr>
              <a:t>Chrome unpacked E2E 완료 · 우클릭·Side Panel 확인</a:t>
            </a:r>
          </a:p>
        </p:txBody>
      </p:sp>
    </p:spTree>
    <p:extLst>
      <p:ext uri="{BB962C8B-B14F-4D97-AF65-F5344CB8AC3E}">
        <p14:creationId xmlns:p14="http://schemas.microsoft.com/office/powerpoint/2010/main" val="113017388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37">
            <a:extLst xmlns:a="http://schemas.openxmlformats.org/drawingml/2006/main">
              <a:ext uri="{FF2B5EF4-FFF2-40B4-BE49-F238E27FC236}">
                <a16:creationId xmlns:a16="http://schemas.microsoft.com/office/drawing/2014/main" id="{C52D4CF0-F4F9-43D6-9B3B-45EF533D1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1000"/>
            <a:ext cx="10953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rPr>
              <a:t>전송, 승인, 실패를 다르게 설명합니다</a:t>
            </a:r>
          </a:p>
        </p:txBody>
      </p:sp>
      <p:sp>
        <p:nvSpPr>
          <p:cNvPr id="2" name="text-38">
            <a:extLst xmlns:a="http://schemas.openxmlformats.org/drawingml/2006/main">
              <a:ext uri="{FF2B5EF4-FFF2-40B4-BE49-F238E27FC236}">
                <a16:creationId xmlns:a16="http://schemas.microsoft.com/office/drawing/2014/main" id="{E5F1A074-1005-4254-A6DC-1D7355457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rPr>
              <a:t>코드가 관측한 사실과 화면에 표시해야 할 주의사항을 함께 관리합니다.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EE6CCA-CC02-4F84-929D-FF6059445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1095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6E0EC"/>
            </a:solidFill>
          </a:ln>
        </p:spPr>
      </p:sp>
      <p:sp>
        <p:nvSpPr>
          <p:cNvPr id="4" name="text-39">
            <a:extLst xmlns:a="http://schemas.openxmlformats.org/drawingml/2006/main">
              <a:ext uri="{FF2B5EF4-FFF2-40B4-BE49-F238E27FC236}">
                <a16:creationId xmlns:a16="http://schemas.microsoft.com/office/drawing/2014/main" id="{99AF4C52-5A82-4FFA-8B48-D1E2CE0A5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rPr>
              <a:t>ChainLens  체인렌즈</a:t>
            </a:r>
          </a:p>
        </p:txBody>
      </p:sp>
      <p:sp>
        <p:nvSpPr>
          <p:cNvPr id="5" name="text-40">
            <a:extLst xmlns:a="http://schemas.openxmlformats.org/drawingml/2006/main">
              <a:ext uri="{FF2B5EF4-FFF2-40B4-BE49-F238E27FC236}">
                <a16:creationId xmlns:a16="http://schemas.microsoft.com/office/drawing/2014/main" id="{08B4FB30-0E68-4FAD-85C4-E14223926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23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rPr>
              <a:t>05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609600" y="1695450"/>
          <a:ext xmlns:a="http://schemas.openxmlformats.org/drawingml/2006/main" cx="10953750" cy="2952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619250"/>
                <a:gridCol w="4381500"/>
                <a:gridCol w="4953000"/>
              </a:tblGrid>
              <a:tr h="73818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장면</a:t>
                      </a:r>
                    </a:p>
                  </a:txBody>
                  <a:tcPr marL="142875" marR="142875" marT="104775" marB="95250" anchor="ctr">
                    <a:solidFill>
                      <a:srgbClr val="0C274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사용자에게 보여줄 해석</a:t>
                      </a:r>
                    </a:p>
                  </a:txBody>
                  <a:tcPr marL="142875" marR="142875" marT="104775" marB="95250" anchor="ctr">
                    <a:solidFill>
                      <a:srgbClr val="0C274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근거·주의</a:t>
                      </a:r>
                    </a:p>
                  </a:txBody>
                  <a:tcPr marL="142875" marR="142875" marT="104775" marB="95250" anchor="ctr">
                    <a:solidFill>
                      <a:srgbClr val="0C274B"/>
                    </a:solidFill>
                  </a:tcPr>
                </a:tc>
              </a:tr>
              <a:tr h="73818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172B4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전송</a:t>
                      </a:r>
                    </a:p>
                  </a:txBody>
                  <a:tcPr marL="142875" marR="142875" marT="104775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172B4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어떤 자산이 어느 주소로 이동했는지</a:t>
                      </a:r>
                    </a:p>
                  </a:txBody>
                  <a:tcPr marL="142875" marR="142875" marT="104775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172B4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value 또는 Transfer 로그. 전체 잔액 변화와 구분</a:t>
                      </a:r>
                    </a:p>
                  </a:txBody>
                  <a:tcPr marL="142875" marR="142875" marT="104775" marB="95250" anchor="ctr">
                    <a:solidFill>
                      <a:srgbClr val="FFFFFF"/>
                    </a:solidFill>
                  </a:tcPr>
                </a:tc>
              </a:tr>
              <a:tr h="73818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172B4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승인</a:t>
                      </a:r>
                    </a:p>
                  </a:txBody>
                  <a:tcPr marL="142875" marR="142875" marT="104775" marB="95250" anchor="ctr">
                    <a:solidFill>
                      <a:srgbClr val="F7F9FC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172B4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어느 주소에 당시 사용 한도를 설정했는지</a:t>
                      </a:r>
                    </a:p>
                  </a:txBody>
                  <a:tcPr marL="142875" marR="142875" marT="104775" marB="95250" anchor="ctr">
                    <a:solidFill>
                      <a:srgbClr val="F7F9FC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172B4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Approval 로그. 현재 allowance로 단정하지 않음</a:t>
                      </a:r>
                    </a:p>
                  </a:txBody>
                  <a:tcPr marL="142875" marR="142875" marT="104775" marB="95250" anchor="ctr">
                    <a:solidFill>
                      <a:srgbClr val="F7F9FC"/>
                    </a:solidFill>
                  </a:tcPr>
                </a:tc>
              </a:tr>
              <a:tr h="73818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172B4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실패</a:t>
                      </a:r>
                    </a:p>
                  </a:txBody>
                  <a:tcPr marL="142875" marR="142875" marT="104775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172B4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실행 실패와 발생한 수수료</a:t>
                      </a:r>
                    </a:p>
                  </a:txBody>
                  <a:tcPr marL="142875" marR="142875" marT="104775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172B4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receipt 상태. 요청된 이동을 완료로 표시하지 않음</a:t>
                      </a:r>
                    </a:p>
                  </a:txBody>
                  <a:tcPr marL="142875" marR="142875" marT="104775" marB="952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-41">
            <a:extLst xmlns:a="http://schemas.openxmlformats.org/drawingml/2006/main">
              <a:ext uri="{FF2B5EF4-FFF2-40B4-BE49-F238E27FC236}">
                <a16:creationId xmlns:a16="http://schemas.microsoft.com/office/drawing/2014/main" id="{1A86C65A-6CE4-4DFD-8839-A5D4F2A8D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1095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rPr>
              <a:t>실제 저장 RPC 사례: USDC 전송, ETH 전송, 당시 USDC Approval, 실패 거래 4건</a:t>
            </a:r>
          </a:p>
        </p:txBody>
      </p:sp>
      <p:sp>
        <p:nvSpPr>
          <p:cNvPr id="8" name="text-42">
            <a:extLst xmlns:a="http://schemas.openxmlformats.org/drawingml/2006/main">
              <a:ext uri="{FF2B5EF4-FFF2-40B4-BE49-F238E27FC236}">
                <a16:creationId xmlns:a16="http://schemas.microsoft.com/office/drawing/2014/main" id="{EE6A56E3-52AE-4AEE-AAE5-5D85491EE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5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rPr>
              <a:t>기존 웹 MVP의 실시간 대조는 35/35 항목을 기록했습니다. 정적·단위 검사는 전체 거래 정확도를 보장하지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26034446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ext-43">
            <a:extLst xmlns:a="http://schemas.openxmlformats.org/drawingml/2006/main">
              <a:ext uri="{FF2B5EF4-FFF2-40B4-BE49-F238E27FC236}">
                <a16:creationId xmlns:a16="http://schemas.microsoft.com/office/drawing/2014/main" id="{B141B6F2-9671-4C4B-86C8-B68C6798C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1000"/>
            <a:ext cx="10953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rPr>
              <a:t>체인에서 사실을 읽고, Groq는 용어만 설명합니다</a:t>
            </a:r>
          </a:p>
        </p:txBody>
      </p:sp>
      <p:sp>
        <p:nvSpPr>
          <p:cNvPr id="2" name="text-44">
            <a:extLst xmlns:a="http://schemas.openxmlformats.org/drawingml/2006/main">
              <a:ext uri="{FF2B5EF4-FFF2-40B4-BE49-F238E27FC236}">
                <a16:creationId xmlns:a16="http://schemas.microsoft.com/office/drawing/2014/main" id="{B117E85E-C267-4732-A02A-F4DC395B4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rPr>
              <a:t>Chrome MV3 확장과 웹 UI가 같은 로컬 API를 통해 검증된 사실을 받습니다.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3E41D8-B627-47E7-91B8-E9072E31D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1095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6E0EC"/>
            </a:solidFill>
          </a:ln>
        </p:spPr>
      </p:sp>
      <p:sp>
        <p:nvSpPr>
          <p:cNvPr id="4" name="text-45">
            <a:extLst xmlns:a="http://schemas.openxmlformats.org/drawingml/2006/main">
              <a:ext uri="{FF2B5EF4-FFF2-40B4-BE49-F238E27FC236}">
                <a16:creationId xmlns:a16="http://schemas.microsoft.com/office/drawing/2014/main" id="{07EAC640-6921-493F-80E9-1ABA35777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rPr>
              <a:t>ChainLens  체인렌즈</a:t>
            </a:r>
          </a:p>
        </p:txBody>
      </p:sp>
      <p:sp>
        <p:nvSpPr>
          <p:cNvPr id="5" name="text-46">
            <a:extLst xmlns:a="http://schemas.openxmlformats.org/drawingml/2006/main">
              <a:ext uri="{FF2B5EF4-FFF2-40B4-BE49-F238E27FC236}">
                <a16:creationId xmlns:a16="http://schemas.microsoft.com/office/drawing/2014/main" id="{A7D49EAC-173D-4265-A5FE-319DC33FE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23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rPr>
              <a:t>06</a:t>
            </a:r>
          </a:p>
        </p:txBody>
      </p:sp>
      <p:sp>
        <p:nvSpPr>
          <p:cNvPr id="6" name="node-47">
            <a:extLst xmlns:a="http://schemas.openxmlformats.org/drawingml/2006/main">
              <a:ext uri="{FF2B5EF4-FFF2-40B4-BE49-F238E27FC236}">
                <a16:creationId xmlns:a16="http://schemas.microsoft.com/office/drawing/2014/main" id="{E460E3E7-27A9-4594-8445-DC0C5439D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3147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6FF"/>
          </a:solidFill>
          <a:ln xmlns:a="http://schemas.openxmlformats.org/drawingml/2006/main" w="11906">
            <a:solidFill>
              <a:srgbClr val="D6E0EC"/>
            </a:solidFill>
          </a:ln>
        </p:spPr>
        <p:txBody>
          <a:bodyPr xmlns:a="http://schemas.openxmlformats.org/drawingml/2006/main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rPr>
              <a:t>웹 UI / MV3 확장</a:t>
            </a:r>
          </a:p>
          <a:p xmlns:a="http://schemas.openxmlformats.org/drawingml/2006/main">
            <a:pPr algn="ctr">
              <a:defRPr sz="1500" b="0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rPr>
              <a:t>Context menu · Shadow DOM · Side Panel</a:t>
            </a:r>
          </a:p>
        </p:txBody>
      </p:sp>
      <p:sp>
        <p:nvSpPr>
          <p:cNvPr id="7" name="node-48">
            <a:extLst xmlns:a="http://schemas.openxmlformats.org/drawingml/2006/main">
              <a:ext uri="{FF2B5EF4-FFF2-40B4-BE49-F238E27FC236}">
                <a16:creationId xmlns:a16="http://schemas.microsoft.com/office/drawing/2014/main" id="{322BBFB1-9746-4759-9D95-9A3E0B82D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685925"/>
            <a:ext cx="33147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6FF"/>
          </a:solidFill>
          <a:ln xmlns:a="http://schemas.openxmlformats.org/drawingml/2006/main" w="11906">
            <a:solidFill>
              <a:srgbClr val="D6E0EC"/>
            </a:solidFill>
          </a:ln>
        </p:spPr>
        <p:txBody>
          <a:bodyPr xmlns:a="http://schemas.openxmlformats.org/drawingml/2006/main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rPr>
              <a:t>로컬 Node.js API</a:t>
            </a:r>
          </a:p>
          <a:p xmlns:a="http://schemas.openxmlformats.org/drawingml/2006/main">
            <a:pPr algn="ctr">
              <a:defRPr sz="1500" b="0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rPr>
              <a:t>hash·URL 검증 · CORS · operation 상태</a:t>
            </a:r>
          </a:p>
        </p:txBody>
      </p:sp>
      <p:sp>
        <p:nvSpPr>
          <p:cNvPr id="8" name="node-49">
            <a:extLst xmlns:a="http://schemas.openxmlformats.org/drawingml/2006/main">
              <a:ext uri="{FF2B5EF4-FFF2-40B4-BE49-F238E27FC236}">
                <a16:creationId xmlns:a16="http://schemas.microsoft.com/office/drawing/2014/main" id="{10FC77FD-E805-44A3-AE6A-583101A14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685925"/>
            <a:ext cx="33147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6FF"/>
          </a:solidFill>
          <a:ln xmlns:a="http://schemas.openxmlformats.org/drawingml/2006/main" w="11906">
            <a:solidFill>
              <a:srgbClr val="D6E0EC"/>
            </a:solidFill>
          </a:ln>
        </p:spPr>
        <p:txBody>
          <a:bodyPr xmlns:a="http://schemas.openxmlformats.org/drawingml/2006/main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rPr>
              <a:t>Ethereum JSON-RPC</a:t>
            </a:r>
          </a:p>
          <a:p xmlns:a="http://schemas.openxmlformats.org/drawingml/2006/main">
            <a:pPr algn="ctr">
              <a:defRPr sz="1500" b="0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rPr>
              <a:t>transaction · receipt · logs</a:t>
            </a:r>
          </a:p>
        </p:txBody>
      </p:sp>
      <p:sp>
        <p:nvSpPr>
          <p:cNvPr id="9" name="node-50">
            <a:extLst xmlns:a="http://schemas.openxmlformats.org/drawingml/2006/main">
              <a:ext uri="{FF2B5EF4-FFF2-40B4-BE49-F238E27FC236}">
                <a16:creationId xmlns:a16="http://schemas.microsoft.com/office/drawing/2014/main" id="{37094A2B-5290-4822-9523-808E0FB7E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371850"/>
            <a:ext cx="33147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4ED"/>
          </a:solidFill>
          <a:ln xmlns:a="http://schemas.openxmlformats.org/drawingml/2006/main" w="11906">
            <a:solidFill>
              <a:srgbClr val="9FCBB1"/>
            </a:solidFill>
          </a:ln>
        </p:spPr>
        <p:txBody>
          <a:bodyPr xmlns:a="http://schemas.openxmlformats.org/drawingml/2006/main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rPr>
              <a:t>사실 추출</a:t>
            </a:r>
          </a:p>
          <a:p xmlns:a="http://schemas.openxmlformats.org/drawingml/2006/main">
            <a:pPr algn="ctr">
              <a:defRPr sz="1500" b="0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rPr>
              <a:t>BigInt · Transfer · Approval · 수수료</a:t>
            </a:r>
          </a:p>
        </p:txBody>
      </p:sp>
      <p:sp>
        <p:nvSpPr>
          <p:cNvPr id="10" name="node-51">
            <a:extLst xmlns:a="http://schemas.openxmlformats.org/drawingml/2006/main">
              <a:ext uri="{FF2B5EF4-FFF2-40B4-BE49-F238E27FC236}">
                <a16:creationId xmlns:a16="http://schemas.microsoft.com/office/drawing/2014/main" id="{B2C5ECC3-167E-4322-91FD-F20B9E419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371850"/>
            <a:ext cx="33147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E5"/>
          </a:solidFill>
          <a:ln xmlns:a="http://schemas.openxmlformats.org/drawingml/2006/main" w="11906">
            <a:solidFill>
              <a:srgbClr val="D7BD74"/>
            </a:solidFill>
          </a:ln>
        </p:spPr>
        <p:txBody>
          <a:bodyPr xmlns:a="http://schemas.openxmlformats.org/drawingml/2006/main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rPr>
              <a:t>Groq 전용 설명 경로</a:t>
            </a:r>
          </a:p>
          <a:p xmlns:a="http://schemas.openxmlformats.org/drawingml/2006/main">
            <a:pPr algn="ctr">
              <a:defRPr sz="1500" b="0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rPr>
              <a:t>safeFacts만 전달 · JSON / output guard</a:t>
            </a:r>
          </a:p>
        </p:txBody>
      </p:sp>
      <p:sp>
        <p:nvSpPr>
          <p:cNvPr id="11" name="node-52">
            <a:extLst xmlns:a="http://schemas.openxmlformats.org/drawingml/2006/main">
              <a:ext uri="{FF2B5EF4-FFF2-40B4-BE49-F238E27FC236}">
                <a16:creationId xmlns:a16="http://schemas.microsoft.com/office/drawing/2014/main" id="{C620FE01-A736-4C79-91DD-00C89BD1C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924425"/>
            <a:ext cx="33147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  <a:ln xmlns:a="http://schemas.openxmlformats.org/drawingml/2006/main" w="11906">
            <a:solidFill>
              <a:srgbClr val="D6E0EC"/>
            </a:solidFill>
          </a:ln>
        </p:spPr>
        <p:txBody>
          <a:bodyPr xmlns:a="http://schemas.openxmlformats.org/drawingml/2006/main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rPr>
              <a:t>규칙 기반 설명</a:t>
            </a:r>
          </a:p>
          <a:p xmlns:a="http://schemas.openxmlformats.org/drawingml/2006/main">
            <a:pPr algn="ctr">
              <a:defRPr sz="1500" b="0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rPr>
              <a:t>키·HTTP·timeout·guard 실패 시 전환</a:t>
            </a:r>
          </a:p>
        </p:txBody>
      </p:sp>
      <p:cxnSp>
        <p:nvCxnSpPr>
          <p:cNvPr id="29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924300" y="2162175"/>
            <a:ext cx="514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463DF"/>
            </a:solidFill>
            <a:tailEnd type="arrow" w="med" len="med"/>
          </a:ln>
        </p:spPr>
      </p:cxnSp>
      <p:cxnSp>
        <p:nvCxnSpPr>
          <p:cNvPr id="30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7753350" y="2162175"/>
            <a:ext cx="514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463DF"/>
            </a:solidFill>
            <a:tailEnd type="arrow" w="med" len="med"/>
          </a:ln>
        </p:spPr>
      </p:cxnSp>
      <p:cxnSp>
        <p:nvCxnSpPr>
          <p:cNvPr id="31" name=""/>
          <p:cNvCxnSpPr>
            <a:stCxn xmlns:a="http://schemas.openxmlformats.org/drawingml/2006/main" id="8" idx="2"/>
            <a:endCxn xmlns:a="http://schemas.openxmlformats.org/drawingml/2006/main" id="9" idx="3"/>
          </p:cNvCxnSpPr>
          <p:nvPr/>
        </p:nvCxnSpPr>
        <p:spPr>
          <a:xfrm xmlns:a="http://schemas.openxmlformats.org/drawingml/2006/main" flipH="1">
            <a:off x="7753350" y="2638425"/>
            <a:ext cx="2171700" cy="12096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463DF"/>
            </a:solidFill>
            <a:tailEnd type="arrow" w="med" len="med"/>
          </a:ln>
        </p:spPr>
      </p:cxnSp>
      <p:cxnSp>
        <p:nvCxnSpPr>
          <p:cNvPr id="32" name=""/>
          <p:cNvCxnSpPr>
            <a:stCxn xmlns:a="http://schemas.openxmlformats.org/drawingml/2006/main" id="9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7753350" y="3848100"/>
            <a:ext cx="514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463DF"/>
            </a:solidFill>
            <a:tailEnd type="arrow" w="med" len="med"/>
          </a:ln>
        </p:spPr>
      </p:cxnSp>
      <p:cxnSp>
        <p:nvCxnSpPr>
          <p:cNvPr id="33" name=""/>
          <p:cNvCxnSpPr>
            <a:stCxn xmlns:a="http://schemas.openxmlformats.org/drawingml/2006/main" id="10" idx="1"/>
            <a:endCxn xmlns:a="http://schemas.openxmlformats.org/drawingml/2006/main" id="11" idx="3"/>
          </p:cNvCxnSpPr>
          <p:nvPr/>
        </p:nvCxnSpPr>
        <p:spPr>
          <a:xfrm xmlns:a="http://schemas.openxmlformats.org/drawingml/2006/main" flipH="1">
            <a:off x="7753350" y="3848100"/>
            <a:ext cx="514350" cy="14573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895800"/>
            </a:solidFill>
            <a:tailEnd type="arrow" w="med" len="med"/>
          </a:ln>
        </p:spPr>
      </p:cxnSp>
      <p:sp>
        <p:nvSpPr>
          <p:cNvPr id="17" name="text-53">
            <a:extLst xmlns:a="http://schemas.openxmlformats.org/drawingml/2006/main">
              <a:ext uri="{FF2B5EF4-FFF2-40B4-BE49-F238E27FC236}">
                <a16:creationId xmlns:a16="http://schemas.microsoft.com/office/drawing/2014/main" id="{B361DFCB-B39D-4B03-9FF3-31A631636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86450"/>
            <a:ext cx="1095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9B343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9B3434"/>
                </a:solidFill>
                <a:latin typeface="Apple SD Gothic Neo"/>
                <a:ea typeface="Apple SD Gothic Neo"/>
                <a:cs typeface="Apple SD Gothic Neo"/>
              </a:rPr>
              <a:t>경계: API 키는 서버 환경변수에만 둡니다. 확장·ZIP·UI에는 넣지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195995326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54">
            <a:extLst xmlns:a="http://schemas.openxmlformats.org/drawingml/2006/main">
              <a:ext uri="{FF2B5EF4-FFF2-40B4-BE49-F238E27FC236}">
                <a16:creationId xmlns:a16="http://schemas.microsoft.com/office/drawing/2014/main" id="{33FC9CCA-47AD-42B6-8B99-81BECC7CB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1000"/>
            <a:ext cx="10953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rPr>
              <a:t>블록체인은 사실의 출처, AI는 설명 계층입니다</a:t>
            </a:r>
          </a:p>
        </p:txBody>
      </p:sp>
      <p:sp>
        <p:nvSpPr>
          <p:cNvPr id="2" name="text-55">
            <a:extLst xmlns:a="http://schemas.openxmlformats.org/drawingml/2006/main">
              <a:ext uri="{FF2B5EF4-FFF2-40B4-BE49-F238E27FC236}">
                <a16:creationId xmlns:a16="http://schemas.microsoft.com/office/drawing/2014/main" id="{EAECAA3B-1E99-4C35-9968-445579033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rPr>
              <a:t>수량·주소·실행 결과를 AI가 새로 만들지 못하도록 경계를 둡니다.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6E556E-1CE9-408F-A1E0-5513E07B0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1095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6E0EC"/>
            </a:solidFill>
          </a:ln>
        </p:spPr>
      </p:sp>
      <p:sp>
        <p:nvSpPr>
          <p:cNvPr id="4" name="text-56">
            <a:extLst xmlns:a="http://schemas.openxmlformats.org/drawingml/2006/main">
              <a:ext uri="{FF2B5EF4-FFF2-40B4-BE49-F238E27FC236}">
                <a16:creationId xmlns:a16="http://schemas.microsoft.com/office/drawing/2014/main" id="{5B0EA030-F329-4903-BC52-2CD5CAF16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rPr>
              <a:t>ChainLens  체인렌즈</a:t>
            </a:r>
          </a:p>
        </p:txBody>
      </p:sp>
      <p:sp>
        <p:nvSpPr>
          <p:cNvPr id="5" name="text-57">
            <a:extLst xmlns:a="http://schemas.openxmlformats.org/drawingml/2006/main">
              <a:ext uri="{FF2B5EF4-FFF2-40B4-BE49-F238E27FC236}">
                <a16:creationId xmlns:a16="http://schemas.microsoft.com/office/drawing/2014/main" id="{610F3920-8B45-450C-9DE7-5305AFC97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23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rPr>
              <a:t>07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79DCE5-6CDC-436E-A6F9-1AE29E56F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657350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6E0EC"/>
            </a:solidFill>
          </a:ln>
        </p:spPr>
      </p:sp>
      <p:sp>
        <p:nvSpPr>
          <p:cNvPr id="7" name="text-58">
            <a:extLst xmlns:a="http://schemas.openxmlformats.org/drawingml/2006/main">
              <a:ext uri="{FF2B5EF4-FFF2-40B4-BE49-F238E27FC236}">
                <a16:creationId xmlns:a16="http://schemas.microsoft.com/office/drawing/2014/main" id="{805CB344-05BC-4063-9F17-04970C4F6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716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463D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1463DF"/>
                </a:solidFill>
                <a:latin typeface="Apple SD Gothic Neo"/>
                <a:ea typeface="Apple SD Gothic Neo"/>
                <a:cs typeface="Apple SD Gothic Neo"/>
              </a:rPr>
              <a:t>코드·블록체인 데이터</a:t>
            </a:r>
          </a:p>
        </p:txBody>
      </p:sp>
      <p:sp>
        <p:nvSpPr>
          <p:cNvPr id="8" name="text-59">
            <a:extLst xmlns:a="http://schemas.openxmlformats.org/drawingml/2006/main">
              <a:ext uri="{FF2B5EF4-FFF2-40B4-BE49-F238E27FC236}">
                <a16:creationId xmlns:a16="http://schemas.microsoft.com/office/drawing/2014/main" id="{4E1A7423-1C93-4FD7-B3D9-FCE82BCCC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7716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463D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1463DF"/>
                </a:solidFill>
                <a:latin typeface="Apple SD Gothic Neo"/>
                <a:ea typeface="Apple SD Gothic Neo"/>
                <a:cs typeface="Apple SD Gothic Neo"/>
              </a:rPr>
              <a:t>Groq 설명</a:t>
            </a:r>
          </a:p>
        </p:txBody>
      </p:sp>
      <p:sp>
        <p:nvSpPr>
          <p:cNvPr id="9" name="text-60">
            <a:extLst xmlns:a="http://schemas.openxmlformats.org/drawingml/2006/main">
              <a:ext uri="{FF2B5EF4-FFF2-40B4-BE49-F238E27FC236}">
                <a16:creationId xmlns:a16="http://schemas.microsoft.com/office/drawing/2014/main" id="{A71E4D47-A684-4855-B1EA-4259D465E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24100"/>
            <a:ext cx="495300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B4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172B45"/>
                </a:solidFill>
                <a:latin typeface="Apple SD Gothic Neo"/>
                <a:ea typeface="Apple SD Gothic Neo"/>
                <a:cs typeface="Apple SD Gothic Neo"/>
              </a:rPr>
              <a:t>수량·소수점·주소·방향 계산</a:t>
            </a:r>
          </a:p>
          <a:p xmlns:a="http://schemas.openxmlformats.org/drawingml/2006/main">
            <a:pPr>
              <a:defRPr sz="2100" b="0">
                <a:solidFill>
                  <a:srgbClr val="172B4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172B45"/>
                </a:solidFill>
                <a:latin typeface="Apple SD Gothic Neo"/>
                <a:ea typeface="Apple SD Gothic Neo"/>
                <a:cs typeface="Apple SD Gothic Neo"/>
              </a:rPr>
              <a:t>승인과 전송 분리</a:t>
            </a:r>
          </a:p>
          <a:p xmlns:a="http://schemas.openxmlformats.org/drawingml/2006/main">
            <a:pPr>
              <a:defRPr sz="2100" b="0">
                <a:solidFill>
                  <a:srgbClr val="172B4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172B45"/>
                </a:solidFill>
                <a:latin typeface="Apple SD Gothic Neo"/>
                <a:ea typeface="Apple SD Gothic Neo"/>
                <a:cs typeface="Apple SD Gothic Neo"/>
              </a:rPr>
              <a:t>실행 상태·수수료 추출</a:t>
            </a:r>
          </a:p>
          <a:p xmlns:a="http://schemas.openxmlformats.org/drawingml/2006/main">
            <a:pPr>
              <a:defRPr sz="2100" b="0">
                <a:solidFill>
                  <a:srgbClr val="172B4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172B45"/>
                </a:solidFill>
                <a:latin typeface="Apple SD Gothic Neo"/>
                <a:ea typeface="Apple SD Gothic Neo"/>
                <a:cs typeface="Apple SD Gothic Neo"/>
              </a:rPr>
              <a:t>원본 필드·로그 근거 보존</a:t>
            </a:r>
          </a:p>
        </p:txBody>
      </p:sp>
      <p:sp>
        <p:nvSpPr>
          <p:cNvPr id="10" name="text-61">
            <a:extLst xmlns:a="http://schemas.openxmlformats.org/drawingml/2006/main">
              <a:ext uri="{FF2B5EF4-FFF2-40B4-BE49-F238E27FC236}">
                <a16:creationId xmlns:a16="http://schemas.microsoft.com/office/drawing/2014/main" id="{464624CC-E910-4608-BBA4-62550D60E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324100"/>
            <a:ext cx="485775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B4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172B45"/>
                </a:solidFill>
                <a:latin typeface="Apple SD Gothic Neo"/>
                <a:ea typeface="Apple SD Gothic Neo"/>
                <a:cs typeface="Apple SD Gothic Neo"/>
              </a:rPr>
              <a:t>safeFacts 기반 짧은 한국어 설명</a:t>
            </a:r>
          </a:p>
          <a:p xmlns:a="http://schemas.openxmlformats.org/drawingml/2006/main">
            <a:pPr>
              <a:defRPr sz="2100" b="0">
                <a:solidFill>
                  <a:srgbClr val="172B4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172B45"/>
                </a:solidFill>
                <a:latin typeface="Apple SD Gothic Neo"/>
                <a:ea typeface="Apple SD Gothic Neo"/>
                <a:cs typeface="Apple SD Gothic Neo"/>
              </a:rPr>
              <a:t>전송·승인·실패 용어 풀이</a:t>
            </a:r>
          </a:p>
          <a:p xmlns:a="http://schemas.openxmlformats.org/drawingml/2006/main">
            <a:pPr>
              <a:defRPr sz="2100" b="0">
                <a:solidFill>
                  <a:srgbClr val="172B4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172B45"/>
                </a:solidFill>
                <a:latin typeface="Apple SD Gothic Neo"/>
                <a:ea typeface="Apple SD Gothic Neo"/>
                <a:cs typeface="Apple SD Gothic Neo"/>
              </a:rPr>
              <a:t>숫자·주소·가격·안전성 판단 추가 금지</a:t>
            </a:r>
          </a:p>
          <a:p xmlns:a="http://schemas.openxmlformats.org/drawingml/2006/main">
            <a:pPr>
              <a:defRPr sz="2100" b="0">
                <a:solidFill>
                  <a:srgbClr val="172B4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172B45"/>
                </a:solidFill>
                <a:latin typeface="Apple SD Gothic Neo"/>
                <a:ea typeface="Apple SD Gothic Neo"/>
                <a:cs typeface="Apple SD Gothic Neo"/>
              </a:rPr>
              <a:t>guard 실패 시 규칙 기반 설명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0F99F6-D181-46FE-BFAC-7014C1A9E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00550"/>
            <a:ext cx="1095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6E0EC"/>
            </a:solidFill>
          </a:ln>
        </p:spPr>
      </p:sp>
      <p:sp>
        <p:nvSpPr>
          <p:cNvPr id="12" name="text-62">
            <a:extLst xmlns:a="http://schemas.openxmlformats.org/drawingml/2006/main">
              <a:ext uri="{FF2B5EF4-FFF2-40B4-BE49-F238E27FC236}">
                <a16:creationId xmlns:a16="http://schemas.microsoft.com/office/drawing/2014/main" id="{92FDD7C4-C299-421A-B578-CE7BBA348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95825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rPr>
              <a:t>검증 상태</a:t>
            </a:r>
          </a:p>
        </p:txBody>
      </p:sp>
      <p:sp>
        <p:nvSpPr>
          <p:cNvPr id="13" name="text-63">
            <a:extLst xmlns:a="http://schemas.openxmlformats.org/drawingml/2006/main">
              <a:ext uri="{FF2B5EF4-FFF2-40B4-BE49-F238E27FC236}">
                <a16:creationId xmlns:a16="http://schemas.microsoft.com/office/drawing/2014/main" id="{B32A79B4-7BBE-4259-85FC-80096A9DD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10906125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rPr>
              <a:t>mock 성공, HTTP 오류, timeout, 잘못된 JSON, output guard 실패의 fallback을 app 26/26 검사로 확인했습니다.</a:t>
            </a:r>
          </a:p>
          <a:p xmlns:a="http://schemas.openxmlformats.org/drawingml/2006/main">
            <a:pPr>
              <a:defRPr sz="1725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rPr>
              <a:t>openai/gpt-oss-20b 실제 Groq 호출에서도 AI 모드와 output guard 통과를 확인했습니다.</a:t>
            </a:r>
          </a:p>
        </p:txBody>
      </p:sp>
    </p:spTree>
    <p:extLst>
      <p:ext uri="{BB962C8B-B14F-4D97-AF65-F5344CB8AC3E}">
        <p14:creationId xmlns:p14="http://schemas.microsoft.com/office/powerpoint/2010/main" val="205056921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ext-64">
            <a:extLst xmlns:a="http://schemas.openxmlformats.org/drawingml/2006/main">
              <a:ext uri="{FF2B5EF4-FFF2-40B4-BE49-F238E27FC236}">
                <a16:creationId xmlns:a16="http://schemas.microsoft.com/office/drawing/2014/main" id="{3B88CFD3-21F3-4EEE-9F95-D24998A99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1000"/>
            <a:ext cx="10953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rPr>
              <a:t>첫 목표는 사용자가 거래를 정확히 설명하게 만드는 것입니다</a:t>
            </a:r>
          </a:p>
        </p:txBody>
      </p:sp>
      <p:sp>
        <p:nvSpPr>
          <p:cNvPr id="2" name="text-65">
            <a:extLst xmlns:a="http://schemas.openxmlformats.org/drawingml/2006/main">
              <a:ext uri="{FF2B5EF4-FFF2-40B4-BE49-F238E27FC236}">
                <a16:creationId xmlns:a16="http://schemas.microsoft.com/office/drawing/2014/main" id="{AEB381A4-B271-4B49-B402-3D3B3A500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rPr>
              <a:t>사용자 검증 계획입니다. 아직 모집하거나 측정하지 않았습니다.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DB700C-6191-4603-8D50-9E98BB767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1095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6E0EC"/>
            </a:solidFill>
          </a:ln>
        </p:spPr>
      </p:sp>
      <p:sp>
        <p:nvSpPr>
          <p:cNvPr id="4" name="text-66">
            <a:extLst xmlns:a="http://schemas.openxmlformats.org/drawingml/2006/main">
              <a:ext uri="{FF2B5EF4-FFF2-40B4-BE49-F238E27FC236}">
                <a16:creationId xmlns:a16="http://schemas.microsoft.com/office/drawing/2014/main" id="{2C358845-B7DB-4B4F-B484-3CCC42F90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rPr>
              <a:t>ChainLens  체인렌즈</a:t>
            </a:r>
          </a:p>
        </p:txBody>
      </p:sp>
      <p:sp>
        <p:nvSpPr>
          <p:cNvPr id="5" name="text-67">
            <a:extLst xmlns:a="http://schemas.openxmlformats.org/drawingml/2006/main">
              <a:ext uri="{FF2B5EF4-FFF2-40B4-BE49-F238E27FC236}">
                <a16:creationId xmlns:a16="http://schemas.microsoft.com/office/drawing/2014/main" id="{84653DA2-45B3-44A5-9547-BD875CE33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23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rPr>
              <a:t>08</a:t>
            </a:r>
          </a:p>
        </p:txBody>
      </p:sp>
      <p:graphicFrame>
        <p:nvGraphicFramePr>
          <p:cNvPr id="15" name=""/>
          <p:cNvGraphicFramePr/>
          <p:nvPr/>
        </p:nvGraphicFramePr>
        <p:xfrm>
          <a:off xmlns:a="http://schemas.openxmlformats.org/drawingml/2006/main" x="609600" y="1666875"/>
          <a:ext xmlns:a="http://schemas.openxmlformats.org/drawingml/2006/main" cx="10953750" cy="27241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86000"/>
                <a:gridCol w="4429125"/>
                <a:gridCol w="4238625"/>
              </a:tblGrid>
              <a:tr h="68103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검증 대상</a:t>
                      </a:r>
                    </a:p>
                  </a:txBody>
                  <a:tcPr marL="142875" marR="142875" marT="104775" marB="95250" anchor="ctr">
                    <a:solidFill>
                      <a:srgbClr val="0C274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검증 방법</a:t>
                      </a:r>
                    </a:p>
                  </a:txBody>
                  <a:tcPr marL="142875" marR="142875" marT="104775" marB="95250" anchor="ctr">
                    <a:solidFill>
                      <a:srgbClr val="0C274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판단에 사용할 관측값</a:t>
                      </a:r>
                    </a:p>
                  </a:txBody>
                  <a:tcPr marL="142875" marR="142875" marT="104775" marB="95250" anchor="ctr">
                    <a:solidFill>
                      <a:srgbClr val="0C274B"/>
                    </a:solidFill>
                  </a:tcPr>
                </a:tc>
              </a:tr>
              <a:tr h="68103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172B4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초보자 이해도</a:t>
                      </a:r>
                    </a:p>
                  </a:txBody>
                  <a:tcPr marL="142875" marR="142875" marT="104775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172B4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탐색기 단독과 ChainLens 조건 비교</a:t>
                      </a:r>
                    </a:p>
                  </a:txBody>
                  <a:tcPr marL="142875" marR="142875" marT="104775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172B4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전송·승인·실패 구분 정답률</a:t>
                      </a:r>
                    </a:p>
                  </a:txBody>
                  <a:tcPr marL="142875" marR="142875" marT="104775" marB="95250" anchor="ctr">
                    <a:solidFill>
                      <a:srgbClr val="FFFFFF"/>
                    </a:solidFill>
                  </a:tcPr>
                </a:tc>
              </a:tr>
              <a:tr h="68103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172B4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근거 확인</a:t>
                      </a:r>
                    </a:p>
                  </a:txBody>
                  <a:tcPr marL="142875" marR="142875" marT="104775" marB="95250" anchor="ctr">
                    <a:solidFill>
                      <a:srgbClr val="F7F9FC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172B4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원본 필드·로그를 찾는 과제</a:t>
                      </a:r>
                    </a:p>
                  </a:txBody>
                  <a:tcPr marL="142875" marR="142875" marT="104775" marB="95250" anchor="ctr">
                    <a:solidFill>
                      <a:srgbClr val="F7F9FC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172B4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답변 시간, 근거 찾기 성공률</a:t>
                      </a:r>
                    </a:p>
                  </a:txBody>
                  <a:tcPr marL="142875" marR="142875" marT="104775" marB="95250" anchor="ctr">
                    <a:solidFill>
                      <a:srgbClr val="F7F9FC"/>
                    </a:solidFill>
                  </a:tcPr>
                </a:tc>
              </a:tr>
              <a:tr h="68103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172B4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반복 사용</a:t>
                      </a:r>
                    </a:p>
                  </a:txBody>
                  <a:tcPr marL="142875" marR="142875" marT="104775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172B4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교육·고객지원 운영자 인터뷰</a:t>
                      </a:r>
                    </a:p>
                  </a:txBody>
                  <a:tcPr marL="142875" marR="142875" marT="104775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172B4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도입 조건, 반복 사용 의향</a:t>
                      </a:r>
                    </a:p>
                  </a:txBody>
                  <a:tcPr marL="142875" marR="142875" marT="104775" marB="952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-68">
            <a:extLst xmlns:a="http://schemas.openxmlformats.org/drawingml/2006/main">
              <a:ext uri="{FF2B5EF4-FFF2-40B4-BE49-F238E27FC236}">
                <a16:creationId xmlns:a16="http://schemas.microsoft.com/office/drawing/2014/main" id="{717F2991-23E6-476D-813C-29B645698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190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463D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1463DF"/>
                </a:solidFill>
                <a:latin typeface="Apple SD Gothic Neo"/>
                <a:ea typeface="Apple SD Gothic Neo"/>
                <a:cs typeface="Apple SD Gothic Neo"/>
              </a:rPr>
              <a:t>가설</a:t>
            </a:r>
          </a:p>
        </p:txBody>
      </p:sp>
      <p:sp>
        <p:nvSpPr>
          <p:cNvPr id="8" name="text-69">
            <a:extLst xmlns:a="http://schemas.openxmlformats.org/drawingml/2006/main">
              <a:ext uri="{FF2B5EF4-FFF2-40B4-BE49-F238E27FC236}">
                <a16:creationId xmlns:a16="http://schemas.microsoft.com/office/drawing/2014/main" id="{E8500B33-4D33-4715-9AC1-548A5A4B0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86375"/>
            <a:ext cx="1057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rPr>
              <a:t>입문자 8–12명 비교에서 정답률 20%p 개선 또는 답변 시간 30% 감소를 목표로 둡니다.</a:t>
            </a:r>
          </a:p>
        </p:txBody>
      </p:sp>
      <p:sp>
        <p:nvSpPr>
          <p:cNvPr id="9" name="text-70">
            <a:extLst xmlns:a="http://schemas.openxmlformats.org/drawingml/2006/main">
              <a:ext uri="{FF2B5EF4-FFF2-40B4-BE49-F238E27FC236}">
                <a16:creationId xmlns:a16="http://schemas.microsoft.com/office/drawing/2014/main" id="{7F500CBD-01A0-44D6-8B1E-21AD6AFEF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86450"/>
            <a:ext cx="10572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rPr>
              <a:t>모집 수와 개선율은 계획입니다. 현재 사용자 수, 성과, 매출이 아닙니다.</a:t>
            </a:r>
          </a:p>
        </p:txBody>
      </p:sp>
    </p:spTree>
    <p:extLst>
      <p:ext uri="{BB962C8B-B14F-4D97-AF65-F5344CB8AC3E}">
        <p14:creationId xmlns:p14="http://schemas.microsoft.com/office/powerpoint/2010/main" val="111694914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ext-71">
            <a:extLst xmlns:a="http://schemas.openxmlformats.org/drawingml/2006/main">
              <a:ext uri="{FF2B5EF4-FFF2-40B4-BE49-F238E27FC236}">
                <a16:creationId xmlns:a16="http://schemas.microsoft.com/office/drawing/2014/main" id="{FA44FDA3-6E59-49F8-B96E-86CA9EF6A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1000"/>
            <a:ext cx="10953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rPr>
              <a:t>웹 MVP에서 DeepL형 확장 경험까지 구현했습니다</a:t>
            </a:r>
          </a:p>
        </p:txBody>
      </p:sp>
      <p:sp>
        <p:nvSpPr>
          <p:cNvPr id="2" name="text-72">
            <a:extLst xmlns:a="http://schemas.openxmlformats.org/drawingml/2006/main">
              <a:ext uri="{FF2B5EF4-FFF2-40B4-BE49-F238E27FC236}">
                <a16:creationId xmlns:a16="http://schemas.microsoft.com/office/drawing/2014/main" id="{811BE293-3591-496A-BBED-8B6663F8F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rPr>
              <a:t>현재 구현 완료, 다음 검증, 사용자 실험, 공개 준비를 구분합니다.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A4BC1F-E4FD-423B-A5B3-645D17C76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1095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6E0EC"/>
            </a:solidFill>
          </a:ln>
        </p:spPr>
      </p:sp>
      <p:sp>
        <p:nvSpPr>
          <p:cNvPr id="4" name="text-73">
            <a:extLst xmlns:a="http://schemas.openxmlformats.org/drawingml/2006/main">
              <a:ext uri="{FF2B5EF4-FFF2-40B4-BE49-F238E27FC236}">
                <a16:creationId xmlns:a16="http://schemas.microsoft.com/office/drawing/2014/main" id="{92DBDBA7-4C7C-4D9E-BDB5-27872FB54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rPr>
              <a:t>ChainLens  체인렌즈</a:t>
            </a:r>
          </a:p>
        </p:txBody>
      </p:sp>
      <p:sp>
        <p:nvSpPr>
          <p:cNvPr id="5" name="text-74">
            <a:extLst xmlns:a="http://schemas.openxmlformats.org/drawingml/2006/main">
              <a:ext uri="{FF2B5EF4-FFF2-40B4-BE49-F238E27FC236}">
                <a16:creationId xmlns:a16="http://schemas.microsoft.com/office/drawing/2014/main" id="{AAD6CE96-3F45-4341-AA9A-FC1527F14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23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rPr>
              <a:t>09</a:t>
            </a:r>
          </a:p>
        </p:txBody>
      </p:sp>
      <p:graphicFrame>
        <p:nvGraphicFramePr>
          <p:cNvPr id="15" name=""/>
          <p:cNvGraphicFramePr/>
          <p:nvPr/>
        </p:nvGraphicFramePr>
        <p:xfrm>
          <a:off xmlns:a="http://schemas.openxmlformats.org/drawingml/2006/main" x="609600" y="1657350"/>
          <a:ext xmlns:a="http://schemas.openxmlformats.org/drawingml/2006/main" cx="10953750" cy="30289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457450"/>
                <a:gridCol w="8496300"/>
              </a:tblGrid>
              <a:tr h="60579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시점</a:t>
                      </a:r>
                    </a:p>
                  </a:txBody>
                  <a:tcPr marL="142875" marR="142875" marT="104775" marB="95250" anchor="ctr">
                    <a:solidFill>
                      <a:srgbClr val="0C274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개발 목표·완료 기준</a:t>
                      </a:r>
                    </a:p>
                  </a:txBody>
                  <a:tcPr marL="142875" marR="142875" marT="104775" marB="95250" anchor="ctr">
                    <a:solidFill>
                      <a:srgbClr val="0C274B"/>
                    </a:solidFill>
                  </a:tcPr>
                </a:tc>
              </a:tr>
              <a:tr h="60579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172B4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현재 구현 완료</a:t>
                      </a:r>
                    </a:p>
                  </a:txBody>
                  <a:tcPr marL="142875" marR="142875" marT="104775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172B4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웹 MVP, Groq live, MV3 확장, ZIP, app 26/26 · extension 14/14, Chrome CUA E2E</a:t>
                      </a:r>
                    </a:p>
                  </a:txBody>
                  <a:tcPr marL="142875" marR="142875" marT="104775" marB="95250" anchor="ctr">
                    <a:solidFill>
                      <a:srgbClr val="FFFFFF"/>
                    </a:solidFill>
                  </a:tcPr>
                </a:tc>
              </a:tr>
              <a:tr h="60579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172B4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다음 기술 검증</a:t>
                      </a:r>
                    </a:p>
                  </a:txBody>
                  <a:tcPr marL="142875" marR="142875" marT="104775" marB="95250" anchor="ctr">
                    <a:solidFill>
                      <a:srgbClr val="F7F9FC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172B4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키 있는 Groq 장애의 실제 Chrome UI, 필요 시 정확한 확장 화면 캡처</a:t>
                      </a:r>
                    </a:p>
                  </a:txBody>
                  <a:tcPr marL="142875" marR="142875" marT="104775" marB="95250" anchor="ctr">
                    <a:solidFill>
                      <a:srgbClr val="F7F9FC"/>
                    </a:solidFill>
                  </a:tcPr>
                </a:tc>
              </a:tr>
              <a:tr h="60579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172B4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사용자 검증</a:t>
                      </a:r>
                    </a:p>
                  </a:txBody>
                  <a:tcPr marL="142875" marR="142875" marT="104775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172B4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초보자 이해도 비교와 원본 근거 찾기 성공률 측정</a:t>
                      </a:r>
                    </a:p>
                  </a:txBody>
                  <a:tcPr marL="142875" marR="142875" marT="104775" marB="95250" anchor="ctr">
                    <a:solidFill>
                      <a:srgbClr val="FFFFFF"/>
                    </a:solidFill>
                  </a:tcPr>
                </a:tc>
              </a:tr>
              <a:tr h="60579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172B4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공개 전</a:t>
                      </a:r>
                    </a:p>
                  </a:txBody>
                  <a:tcPr marL="142875" marR="142875" marT="104775" marB="95250" anchor="ctr">
                    <a:solidFill>
                      <a:srgbClr val="F7F9FC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172B4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공개 backend, 최신 자료, 영상·신청 여부를 별도 확인</a:t>
                      </a:r>
                    </a:p>
                  </a:txBody>
                  <a:tcPr marL="142875" marR="142875" marT="104775" marB="95250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7" name="text-75">
            <a:extLst xmlns:a="http://schemas.openxmlformats.org/drawingml/2006/main">
              <a:ext uri="{FF2B5EF4-FFF2-40B4-BE49-F238E27FC236}">
                <a16:creationId xmlns:a16="http://schemas.microsoft.com/office/drawing/2014/main" id="{33329F97-5C69-45A7-A131-9BA003EBB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2920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463D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1463DF"/>
                </a:solidFill>
                <a:latin typeface="Apple SD Gothic Neo"/>
                <a:ea typeface="Apple SD Gothic Neo"/>
                <a:cs typeface="Apple SD Gothic Neo"/>
              </a:rPr>
              <a:t>2인 역할</a:t>
            </a:r>
          </a:p>
        </p:txBody>
      </p:sp>
      <p:sp>
        <p:nvSpPr>
          <p:cNvPr id="8" name="text-76">
            <a:extLst xmlns:a="http://schemas.openxmlformats.org/drawingml/2006/main">
              <a:ext uri="{FF2B5EF4-FFF2-40B4-BE49-F238E27FC236}">
                <a16:creationId xmlns:a16="http://schemas.microsoft.com/office/drawing/2014/main" id="{4F7EEBB6-504D-4F37-B531-A89F6834A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57825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B4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72B45"/>
                </a:solidFill>
                <a:latin typeface="Apple SD Gothic Neo"/>
                <a:ea typeface="Apple SD Gothic Neo"/>
                <a:cs typeface="Apple SD Gothic Neo"/>
              </a:rPr>
              <a:t>A · 데이터·정확성  Ethereum JSON-RPC, Node.js, BigInt, 이벤트 디코딩·검증</a:t>
            </a:r>
          </a:p>
        </p:txBody>
      </p:sp>
      <p:sp>
        <p:nvSpPr>
          <p:cNvPr id="9" name="text-77">
            <a:extLst xmlns:a="http://schemas.openxmlformats.org/drawingml/2006/main">
              <a:ext uri="{FF2B5EF4-FFF2-40B4-BE49-F238E27FC236}">
                <a16:creationId xmlns:a16="http://schemas.microsoft.com/office/drawing/2014/main" id="{0A5FABDC-C454-4B56-B24D-50A2C1F85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48350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B4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72B45"/>
                </a:solidFill>
                <a:latin typeface="Apple SD Gothic Neo"/>
                <a:ea typeface="Apple SD Gothic Neo"/>
                <a:cs typeface="Apple SD Gothic Neo"/>
              </a:rPr>
              <a:t>B · 서비스·AI·UX  Chrome MV3, HTML/CSS/JavaScript, Groq 연동, 사용자 실험·시연</a:t>
            </a:r>
          </a:p>
        </p:txBody>
      </p:sp>
    </p:spTree>
    <p:extLst>
      <p:ext uri="{BB962C8B-B14F-4D97-AF65-F5344CB8AC3E}">
        <p14:creationId xmlns:p14="http://schemas.microsoft.com/office/powerpoint/2010/main" val="167515922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ext-78">
            <a:extLst xmlns:a="http://schemas.openxmlformats.org/drawingml/2006/main">
              <a:ext uri="{FF2B5EF4-FFF2-40B4-BE49-F238E27FC236}">
                <a16:creationId xmlns:a16="http://schemas.microsoft.com/office/drawing/2014/main" id="{146C68D1-94A2-4222-A82C-D6430909F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1000"/>
            <a:ext cx="10953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rPr>
              <a:t>구현·검증·남은 검증을 구분해 제출합니다</a:t>
            </a:r>
          </a:p>
        </p:txBody>
      </p:sp>
      <p:sp>
        <p:nvSpPr>
          <p:cNvPr id="2" name="text-79">
            <a:extLst xmlns:a="http://schemas.openxmlformats.org/drawingml/2006/main">
              <a:ext uri="{FF2B5EF4-FFF2-40B4-BE49-F238E27FC236}">
                <a16:creationId xmlns:a16="http://schemas.microsoft.com/office/drawing/2014/main" id="{A1464F35-D033-4901-AA6C-BFF5E4AD0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rPr>
              <a:t>완료된 검증 근거와 아직 확인하지 못한 항목을 함께 제시합니다.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FB586D-BACD-40A7-8E65-DFAECCE3D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1095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6E0EC"/>
            </a:solidFill>
          </a:ln>
        </p:spPr>
      </p:sp>
      <p:sp>
        <p:nvSpPr>
          <p:cNvPr id="4" name="text-80">
            <a:extLst xmlns:a="http://schemas.openxmlformats.org/drawingml/2006/main">
              <a:ext uri="{FF2B5EF4-FFF2-40B4-BE49-F238E27FC236}">
                <a16:creationId xmlns:a16="http://schemas.microsoft.com/office/drawing/2014/main" id="{5F816570-5F37-4211-B18E-A45739AA7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rPr>
              <a:t>ChainLens  체인렌즈</a:t>
            </a:r>
          </a:p>
        </p:txBody>
      </p:sp>
      <p:sp>
        <p:nvSpPr>
          <p:cNvPr id="5" name="text-81">
            <a:extLst xmlns:a="http://schemas.openxmlformats.org/drawingml/2006/main">
              <a:ext uri="{FF2B5EF4-FFF2-40B4-BE49-F238E27FC236}">
                <a16:creationId xmlns:a16="http://schemas.microsoft.com/office/drawing/2014/main" id="{3608BFDE-8CC1-4DF7-B64F-A26D2BA45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23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rPr>
              <a:t>10</a:t>
            </a:r>
          </a:p>
        </p:txBody>
      </p:sp>
      <p:graphicFrame>
        <p:nvGraphicFramePr>
          <p:cNvPr id="15" name=""/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53750" cy="30670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429000"/>
                <a:gridCol w="7524750"/>
              </a:tblGrid>
              <a:tr h="4381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확인 항목</a:t>
                      </a:r>
                    </a:p>
                  </a:txBody>
                  <a:tcPr marL="142875" marR="142875" marT="104775" marB="95250" anchor="ctr">
                    <a:solidFill>
                      <a:srgbClr val="0C274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현재 근거</a:t>
                      </a:r>
                    </a:p>
                  </a:txBody>
                  <a:tcPr marL="142875" marR="142875" marT="104775" marB="95250" anchor="ctr">
                    <a:solidFill>
                      <a:srgbClr val="0C274B"/>
                    </a:solidFill>
                  </a:tcPr>
                </a:tc>
              </a:tr>
              <a:tr h="4381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0">
                          <a:solidFill>
                            <a:srgbClr val="172B4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웹 앱 해석·Groq fallback</a:t>
                      </a:r>
                    </a:p>
                  </a:txBody>
                  <a:tcPr marL="142875" marR="142875" marT="104775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0">
                          <a:solidFill>
                            <a:srgbClr val="172B4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app 26/26 테스트, 기존 실제 RPC 4건 기록</a:t>
                      </a:r>
                    </a:p>
                  </a:txBody>
                  <a:tcPr marL="142875" marR="142875" marT="104775" marB="95250" anchor="ctr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0">
                          <a:solidFill>
                            <a:srgbClr val="172B4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확장 구조·권한·보안 경계</a:t>
                      </a:r>
                    </a:p>
                  </a:txBody>
                  <a:tcPr marL="142875" marR="142875" marT="104775" marB="95250" anchor="ctr">
                    <a:solidFill>
                      <a:srgbClr val="F7F9FC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0">
                          <a:solidFill>
                            <a:srgbClr val="172B4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extension 14/14, 문법·ZIP 검사</a:t>
                      </a:r>
                    </a:p>
                  </a:txBody>
                  <a:tcPr marL="142875" marR="142875" marT="104775" marB="95250" anchor="ctr">
                    <a:solidFill>
                      <a:srgbClr val="F7F9FC"/>
                    </a:solidFill>
                  </a:tcPr>
                </a:tc>
              </a:tr>
              <a:tr h="4381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0">
                          <a:solidFill>
                            <a:srgbClr val="172B4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확장 배포물</a:t>
                      </a:r>
                    </a:p>
                  </a:txBody>
                  <a:tcPr marL="142875" marR="142875" marT="104775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0">
                          <a:solidFill>
                            <a:srgbClr val="172B4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unpacked 확장 + 검증 ZIP</a:t>
                      </a:r>
                    </a:p>
                  </a:txBody>
                  <a:tcPr marL="142875" marR="142875" marT="104775" marB="95250" anchor="ctr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0">
                          <a:solidFill>
                            <a:srgbClr val="172B4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실제 Chrome E2E</a:t>
                      </a:r>
                    </a:p>
                  </a:txBody>
                  <a:tcPr marL="142875" marR="142875" marT="104775" marB="95250" anchor="ctr">
                    <a:solidFill>
                      <a:srgbClr val="F7F9FC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0">
                          <a:solidFill>
                            <a:srgbClr val="172B4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우클릭·Side Panel, Etherscan·Blockscout 자동 인식 CUA 확인</a:t>
                      </a:r>
                    </a:p>
                  </a:txBody>
                  <a:tcPr marL="142875" marR="142875" marT="104775" marB="95250" anchor="ctr">
                    <a:solidFill>
                      <a:srgbClr val="F7F9FC"/>
                    </a:solidFill>
                  </a:tcPr>
                </a:tc>
              </a:tr>
              <a:tr h="4381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0">
                          <a:solidFill>
                            <a:srgbClr val="172B4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Groq live</a:t>
                      </a:r>
                    </a:p>
                  </a:txBody>
                  <a:tcPr marL="142875" marR="142875" marT="104775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0">
                          <a:solidFill>
                            <a:srgbClr val="172B4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openai/gpt-oss-20b AI 모드·guard 통과</a:t>
                      </a:r>
                    </a:p>
                  </a:txBody>
                  <a:tcPr marL="142875" marR="142875" marT="104775" marB="95250" anchor="ctr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0">
                          <a:solidFill>
                            <a:srgbClr val="172B4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공개 링크·영상·신청</a:t>
                      </a:r>
                    </a:p>
                  </a:txBody>
                  <a:tcPr marL="142875" marR="142875" marT="104775" marB="95250" anchor="ctr">
                    <a:solidFill>
                      <a:srgbClr val="F7F9FC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0">
                          <a:solidFill>
                            <a:srgbClr val="172B4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미실행</a:t>
                      </a:r>
                    </a:p>
                  </a:txBody>
                  <a:tcPr marL="142875" marR="142875" marT="104775" marB="95250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7" name="text-82">
            <a:extLst xmlns:a="http://schemas.openxmlformats.org/drawingml/2006/main">
              <a:ext uri="{FF2B5EF4-FFF2-40B4-BE49-F238E27FC236}">
                <a16:creationId xmlns:a16="http://schemas.microsoft.com/office/drawing/2014/main" id="{5EE90F4D-168A-43E4-9D66-8C036DED9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29200"/>
            <a:ext cx="2286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463D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1463DF"/>
                </a:solidFill>
                <a:latin typeface="Apple SD Gothic Neo"/>
                <a:ea typeface="Apple SD Gothic Neo"/>
                <a:cs typeface="Apple SD Gothic Neo"/>
              </a:rPr>
              <a:t>레퍼런스</a:t>
            </a:r>
          </a:p>
        </p:txBody>
      </p:sp>
      <p:sp>
        <p:nvSpPr>
          <p:cNvPr id="8" name="text-83">
            <a:extLst xmlns:a="http://schemas.openxmlformats.org/drawingml/2006/main">
              <a:ext uri="{FF2B5EF4-FFF2-40B4-BE49-F238E27FC236}">
                <a16:creationId xmlns:a16="http://schemas.microsoft.com/office/drawing/2014/main" id="{7ACDB7BA-D896-4FB1-BCC5-950ADBAFE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858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rPr>
              <a:t>BLOCK AI 26 공식 안내 · Chrome contextMenus / activeTab / Side Panel · Groq Models</a:t>
            </a:r>
          </a:p>
          <a:p xmlns:a="http://schemas.openxmlformats.org/drawingml/2006/main">
            <a:pPr>
              <a:defRPr sz="150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rPr>
              <a:t>Etherscan Experimental Feature · Blockscout Interpreter API · Noves Translate Introduction</a:t>
            </a:r>
          </a:p>
        </p:txBody>
      </p:sp>
      <p:sp>
        <p:nvSpPr>
          <p:cNvPr id="9" name="text-84">
            <a:extLst xmlns:a="http://schemas.openxmlformats.org/drawingml/2006/main">
              <a:ext uri="{FF2B5EF4-FFF2-40B4-BE49-F238E27FC236}">
                <a16:creationId xmlns:a16="http://schemas.microsoft.com/office/drawing/2014/main" id="{4FD5367B-A1D8-4674-8944-9629AF6E8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00750"/>
            <a:ext cx="1085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rPr>
              <a:t>정적·단위 검사와 CUA E2E는 공개 배포, Web Store 승인, 전체 거래 정확도를 뜻하지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27173539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2026-09-12T13:44:27.0860000Z</dcterms:created>
  <dcterms:modified xsi:type="dcterms:W3CDTF">2026-09-12T13:44:27.0860000Z</dcterms:modified>
</coreProperties>
</file>