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613fbac21214ba7" /><Relationship Type="http://schemas.openxmlformats.org/officeDocument/2006/relationships/extended-properties" Target="/docProps/app.xml" Id="R353b35447fe5437e" /><Relationship Type="http://schemas.openxmlformats.org/officeDocument/2006/relationships/officeDocument" Target="/ppt/presentation.xml" Id="R49694ece66a44db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d0f792305a84604"/>
  </p:sldMasterIdLst>
  <p:notesMasterIdLst>
    <p:notesMasterId xmlns:r="http://schemas.openxmlformats.org/officeDocument/2006/relationships" r:id="R66dc3f46c0004fc5"/>
  </p:notesMasterIdLst>
  <p:sldIdLst>
    <p:sldId xmlns:r="http://schemas.openxmlformats.org/officeDocument/2006/relationships" id="256" r:id="R92b67e13bebd40f0"/>
    <p:sldId xmlns:r="http://schemas.openxmlformats.org/officeDocument/2006/relationships" id="257" r:id="R7ff52a8082444207"/>
    <p:sldId xmlns:r="http://schemas.openxmlformats.org/officeDocument/2006/relationships" id="258" r:id="R31cd1cb8907f4e7a"/>
    <p:sldId xmlns:r="http://schemas.openxmlformats.org/officeDocument/2006/relationships" id="259" r:id="Rdae29cebe5ff48f9"/>
    <p:sldId xmlns:r="http://schemas.openxmlformats.org/officeDocument/2006/relationships" id="260" r:id="R1a9d877d358c45b0"/>
    <p:sldId xmlns:r="http://schemas.openxmlformats.org/officeDocument/2006/relationships" id="261" r:id="R72bf074124b04a1a"/>
    <p:sldId xmlns:r="http://schemas.openxmlformats.org/officeDocument/2006/relationships" id="262" r:id="Rf6d7aaf2a3fa4e6e"/>
    <p:sldId xmlns:r="http://schemas.openxmlformats.org/officeDocument/2006/relationships" id="263" r:id="Rba56d1c5c4524f46"/>
    <p:sldId xmlns:r="http://schemas.openxmlformats.org/officeDocument/2006/relationships" id="264" r:id="R51fbfced3a204ffc"/>
    <p:sldId xmlns:r="http://schemas.openxmlformats.org/officeDocument/2006/relationships" id="265" r:id="R2dd2a22aa0734b1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41dd022e9854c85" /><Relationship Type="http://schemas.openxmlformats.org/officeDocument/2006/relationships/slideMaster" Target="/ppt/slideMasters/slideMaster1.xml" Id="R3d0f792305a84604" /><Relationship Type="http://schemas.openxmlformats.org/officeDocument/2006/relationships/notesMaster" Target="/ppt/notesMasters/notesMaster1.xml" Id="R66dc3f46c0004fc5" /><Relationship Type="http://schemas.openxmlformats.org/officeDocument/2006/relationships/presProps" Target="/ppt/presProps.xml" Id="R1345abe081cc4420" /><Relationship Type="http://schemas.openxmlformats.org/officeDocument/2006/relationships/tableStyles" Target="/ppt/tableStyles.xml" Id="R40e2914a916349c1" /><Relationship Type="http://schemas.openxmlformats.org/officeDocument/2006/relationships/slide" Target="/ppt/slides/slide1.xml" Id="R92b67e13bebd40f0" /><Relationship Type="http://schemas.openxmlformats.org/officeDocument/2006/relationships/slide" Target="/ppt/slides/slide2.xml" Id="R7ff52a8082444207" /><Relationship Type="http://schemas.openxmlformats.org/officeDocument/2006/relationships/slide" Target="/ppt/slides/slide3.xml" Id="R31cd1cb8907f4e7a" /><Relationship Type="http://schemas.openxmlformats.org/officeDocument/2006/relationships/slide" Target="/ppt/slides/slide4.xml" Id="Rdae29cebe5ff48f9" /><Relationship Type="http://schemas.openxmlformats.org/officeDocument/2006/relationships/slide" Target="/ppt/slides/slide5.xml" Id="R1a9d877d358c45b0" /><Relationship Type="http://schemas.openxmlformats.org/officeDocument/2006/relationships/slide" Target="/ppt/slides/slide6.xml" Id="R72bf074124b04a1a" /><Relationship Type="http://schemas.openxmlformats.org/officeDocument/2006/relationships/slide" Target="/ppt/slides/slide7.xml" Id="Rf6d7aaf2a3fa4e6e" /><Relationship Type="http://schemas.openxmlformats.org/officeDocument/2006/relationships/slide" Target="/ppt/slides/slide8.xml" Id="Rba56d1c5c4524f46" /><Relationship Type="http://schemas.openxmlformats.org/officeDocument/2006/relationships/slide" Target="/ppt/slides/slide9.xml" Id="R51fbfced3a204ffc" /><Relationship Type="http://schemas.openxmlformats.org/officeDocument/2006/relationships/slide" Target="/ppt/slides/slide10.xml" Id="R2dd2a22aa0734b1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4c151c5cf554fc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61429822be64775" /><Relationship Type="http://schemas.openxmlformats.org/officeDocument/2006/relationships/notesMaster" Target="/ppt/notesMasters/notesMaster1.xml" Id="R588c51f59892461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253a87c50bd4ede" /><Relationship Type="http://schemas.openxmlformats.org/officeDocument/2006/relationships/notesMaster" Target="/ppt/notesMasters/notesMaster1.xml" Id="R0068d2f8a293429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e05dbcce8f247d2" /><Relationship Type="http://schemas.openxmlformats.org/officeDocument/2006/relationships/notesMaster" Target="/ppt/notesMasters/notesMaster1.xml" Id="Rcb76168ac0c0453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f5c6cac1f9140f3" /><Relationship Type="http://schemas.openxmlformats.org/officeDocument/2006/relationships/notesMaster" Target="/ppt/notesMasters/notesMaster1.xml" Id="Rff5590aae63a44f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1a25d99e93d4d1c" /><Relationship Type="http://schemas.openxmlformats.org/officeDocument/2006/relationships/notesMaster" Target="/ppt/notesMasters/notesMaster1.xml" Id="Refe399c41b4044b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240ea9a0ab74385" /><Relationship Type="http://schemas.openxmlformats.org/officeDocument/2006/relationships/notesMaster" Target="/ppt/notesMasters/notesMaster1.xml" Id="R5036e3b47c73429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ce29ae53d5942bb" /><Relationship Type="http://schemas.openxmlformats.org/officeDocument/2006/relationships/notesMaster" Target="/ppt/notesMasters/notesMaster1.xml" Id="R93166817e36d459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235cb8aeea2418f" /><Relationship Type="http://schemas.openxmlformats.org/officeDocument/2006/relationships/notesMaster" Target="/ppt/notesMasters/notesMaster1.xml" Id="Re965d8dcf91a425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0e6ca5459234f2f" /><Relationship Type="http://schemas.openxmlformats.org/officeDocument/2006/relationships/notesMaster" Target="/ppt/notesMasters/notesMaster1.xml" Id="Re2ac1160a857444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bd2cc3c90cc4804" /><Relationship Type="http://schemas.openxmlformats.org/officeDocument/2006/relationships/notesMaster" Target="/ppt/notesMasters/notesMaster1.xml" Id="R7a9c15bd7ad249a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ChainLens는 이미 발생한 Ethereum 거래 기록을 읽는다. 거래를 실행하거나 안전성을 판정하지 않는다. Chrome MV3 확장, 서버, Groq 전용 설명 경로는 구현되어 있으며 실제 Chrome unpacked E2E를 확인했다.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대표 이용 상황을 바탕으로 한 문제 가설이다. 사용자 인터뷰 결과나 사용 비율로 제시하지 않는다. Approval은 spender에 당시 사용 한도를 설정하는 행위로 Transfer와 구분한다.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공식 자료: Etherscan Experimental Feature, Blockscout Interpreter API, Noves Translate Introduction. 한국어 영수증, 원본 근거 연결, 확인 범위 표시는 사용자 검증이 필요한 가설이다. 최초성, 독점성, 성능 우위를 주장하지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실제 Chrome unpacked E2E는 완료했지만 OS 전면창 불일치로 보존된 확장 PNG는 없다. 왼쪽은 기존 웹 MVP 화면이며 확장 화면으로 제시하지 않는다. 실제 관측은 evidence/extension-chrome-e2e.md를 따른다.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실제 사례와 조회 시점은 verification.md와 evidence/rpc-examples.json에 기록한다. 성공 receipt는 사용자 목적 달성을 보장하지 않는다. Approval 이벤트는 당시 설정량이며 현재 allowance를 보장하지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Chrome MV3의 context menu, Shadow DOM 빠른 영수증, Side Panel은 구현되어 있다. API는 safeFacts만 Groq에 전달한다. openai/gpt-oss-20b의 Groq live와 mock, fallback을 검증했다. API 키는 서버 프로세스 환경변수에만 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AI에는 status, category, 전송·승인 존재 여부, 지원 밖 로그, finality만 전달한다. 숫자·주소·금지 표현·길이를 guard한다. guard는 모든 의미 오류를 증명하지 않는다. 실제 Groq live에서 AI 모드와 guard 통과를 확인했다.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사용자 검증 계획이며 아직 모집·측정 전이다. 정답률 20%p 개선 또는 답변 시간 30% 감소는 목표 가설이다. 초기 고객 후보는 지갑·교육 서비스의 온보딩 담당자이며 수익 후보는 B2B 해설 위젯/API다.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Chrome MV3 확장과 ZIP은 현재 구현 완료 항목이다. Chrome Web Store 공개, 공개 backend, 영상, 신청은 수행하지 않았다. 역할 A/B는 제안 분담이며 개인별 경험은 제출 전에 사실 확인이 필요하다.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자세한 근거는 verification.md와 evidence/extension-chrome-e2e.md에 있다. screenshots/는 기존 웹 MVP 5장이고 확장 화면이 아니다. 새 extension PNG를 넣으려면 올바른 Chrome 전면창에서 캡처한 뒤 관측 기록과 대조해야 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293efd21e1497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9fc1bed4b8d46b1" /><Relationship Type="http://schemas.openxmlformats.org/officeDocument/2006/relationships/slideLayout" Target="/ppt/slideLayouts/slideLayout1.xml" Id="R2e006090e9f74b2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e006090e9f74b2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4ab4639dca4f4d" /><Relationship Type="http://schemas.openxmlformats.org/officeDocument/2006/relationships/notesSlide" Target="/ppt/notesSlides/notesSlide1.xml" Id="R2ab8fdcd2f2f401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83462da2d34b64" /><Relationship Type="http://schemas.openxmlformats.org/officeDocument/2006/relationships/notesSlide" Target="/ppt/notesSlides/notesSlide2.xml" Id="R17f3775947754f9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4921ebfd234fb5" /><Relationship Type="http://schemas.openxmlformats.org/officeDocument/2006/relationships/notesSlide" Target="/ppt/notesSlides/notesSlide3.xml" Id="R56ed1addcb014f3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fef7e6272246e9" /><Relationship Type="http://schemas.openxmlformats.org/officeDocument/2006/relationships/image" Target="/ppt/media/image.png" Id="Ra9260f33c41b4168" /><Relationship Type="http://schemas.openxmlformats.org/officeDocument/2006/relationships/notesSlide" Target="/ppt/notesSlides/notesSlide4.xml" Id="Raca0ec78ca2047d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72315c1dba47a9" /><Relationship Type="http://schemas.openxmlformats.org/officeDocument/2006/relationships/notesSlide" Target="/ppt/notesSlides/notesSlide5.xml" Id="R44dc639d1157485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0f2c218b4f4107" /><Relationship Type="http://schemas.openxmlformats.org/officeDocument/2006/relationships/notesSlide" Target="/ppt/notesSlides/notesSlide6.xml" Id="Rcab10438e11649b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e7856373f5473f" /><Relationship Type="http://schemas.openxmlformats.org/officeDocument/2006/relationships/notesSlide" Target="/ppt/notesSlides/notesSlide7.xml" Id="Re1a2bc41ea5e4c3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34e78a681d4548" /><Relationship Type="http://schemas.openxmlformats.org/officeDocument/2006/relationships/notesSlide" Target="/ppt/notesSlides/notesSlide8.xml" Id="R6b42732e1b744bb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20dd4466db40d4" /><Relationship Type="http://schemas.openxmlformats.org/officeDocument/2006/relationships/notesSlide" Target="/ppt/notesSlides/notesSlide9.xml" Id="R7d13e13838a14a7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d8def0c47e4876" /><Relationship Type="http://schemas.openxmlformats.org/officeDocument/2006/relationships/notesSlide" Target="/ppt/notesSlides/notesSlide10.xml" Id="Rdb34de98a6c34a7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C274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1">
            <a:extLst xmlns:a="http://schemas.openxmlformats.org/drawingml/2006/main">
              <a:ext uri="{FF2B5EF4-FFF2-40B4-BE49-F238E27FC236}">
                <a16:creationId xmlns:a16="http://schemas.microsoft.com/office/drawing/2014/main" id="{8938F0B8-C3DF-456F-90D0-25A26091D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3875"/>
            <a:ext cx="1066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B8D3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B8D3FF"/>
                </a:solidFill>
                <a:latin typeface="Apple SD Gothic Neo"/>
                <a:ea typeface="Apple SD Gothic Neo"/>
                <a:cs typeface="Apple SD Gothic Neo"/>
              </a:rPr>
              <a:t>BLOCK AI 26  AI + 블록체인 융합서비스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D1E15BB5-F690-4FE8-9769-FF274C611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1066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6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6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ChainLens</a:t>
            </a:r>
          </a:p>
        </p:txBody>
      </p:sp>
      <p:sp>
        <p:nvSpPr>
          <p:cNvPr id="3" name="text-3">
            <a:extLst xmlns:a="http://schemas.openxmlformats.org/drawingml/2006/main">
              <a:ext uri="{FF2B5EF4-FFF2-40B4-BE49-F238E27FC236}">
                <a16:creationId xmlns:a16="http://schemas.microsoft.com/office/drawing/2014/main" id="{8CBCE219-4AEF-40FC-83BC-2D15FC316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0512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2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체인렌즈</a:t>
            </a:r>
          </a:p>
        </p:txBody>
      </p:sp>
      <p:sp>
        <p:nvSpPr>
          <p:cNvPr id="4" name="text-4">
            <a:extLst xmlns:a="http://schemas.openxmlformats.org/drawingml/2006/main">
              <a:ext uri="{FF2B5EF4-FFF2-40B4-BE49-F238E27FC236}">
                <a16:creationId xmlns:a16="http://schemas.microsoft.com/office/drawing/2014/main" id="{52C14827-70AE-444A-BC83-152EE3D69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43350"/>
            <a:ext cx="103822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75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복잡한 거래 기록을</a:t>
            </a:r>
          </a:p>
          <a:p xmlns:a="http://schemas.openxmlformats.org/drawingml/2006/main">
            <a:pPr>
              <a:defRPr sz="2775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근거가 연결된 한국어 영수증으로</a:t>
            </a:r>
          </a:p>
        </p:txBody>
      </p:sp>
      <p:sp>
        <p:nvSpPr>
          <p:cNvPr id="5" name="text-5">
            <a:extLst xmlns:a="http://schemas.openxmlformats.org/drawingml/2006/main">
              <a:ext uri="{FF2B5EF4-FFF2-40B4-BE49-F238E27FC236}">
                <a16:creationId xmlns:a16="http://schemas.microsoft.com/office/drawing/2014/main" id="{A5B15234-DA69-4768-A56D-4B6A1F325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5772150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B8D3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B8D3FF"/>
                </a:solidFill>
                <a:latin typeface="Apple SD Gothic Neo"/>
                <a:ea typeface="Apple SD Gothic Neo"/>
                <a:cs typeface="Apple SD Gothic Neo"/>
              </a:rPr>
              <a:t>Chrome MV3 확장 · Ethereum 거래 해석 · AI API 설명 경로</a:t>
            </a:r>
          </a:p>
        </p:txBody>
      </p:sp>
      <p:sp>
        <p:nvSpPr>
          <p:cNvPr id="6" name="text-6">
            <a:extLst xmlns:a="http://schemas.openxmlformats.org/drawingml/2006/main">
              <a:ext uri="{FF2B5EF4-FFF2-40B4-BE49-F238E27FC236}">
                <a16:creationId xmlns:a16="http://schemas.microsoft.com/office/drawing/2014/main" id="{639CD528-DCE9-4D99-BB48-75DA7BA05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6181725"/>
            <a:ext cx="10668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B8D3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B8D3FF"/>
                </a:solidFill>
                <a:latin typeface="Apple SD Gothic Neo"/>
                <a:ea typeface="Apple SD Gothic Neo"/>
                <a:cs typeface="Apple SD Gothic Neo"/>
              </a:rPr>
              <a:t>팀 헐크호건 (아주대학교 박건, 가천대학교 서호)</a:t>
            </a:r>
          </a:p>
        </p:txBody>
      </p:sp>
    </p:spTree>
    <p:extLst>
      <p:ext uri="{BB962C8B-B14F-4D97-AF65-F5344CB8AC3E}">
        <p14:creationId xmlns:p14="http://schemas.microsoft.com/office/powerpoint/2010/main" val="1657212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7">
            <a:extLst xmlns:a="http://schemas.openxmlformats.org/drawingml/2006/main">
              <a:ext uri="{FF2B5EF4-FFF2-40B4-BE49-F238E27FC236}">
                <a16:creationId xmlns:a16="http://schemas.microsoft.com/office/drawing/2014/main" id="{14D4E2FA-CCDB-4EBF-8A6B-235C85C58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1000"/>
            <a:ext cx="1095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성공 표시만으로는 거래의 의미를 알기 어렵습니다</a:t>
            </a:r>
          </a:p>
        </p:txBody>
      </p:sp>
      <p:sp>
        <p:nvSpPr>
          <p:cNvPr id="2" name="text-8">
            <a:extLst xmlns:a="http://schemas.openxmlformats.org/drawingml/2006/main">
              <a:ext uri="{FF2B5EF4-FFF2-40B4-BE49-F238E27FC236}">
                <a16:creationId xmlns:a16="http://schemas.microsoft.com/office/drawing/2014/main" id="{56A19275-623A-4C58-B20F-4186F3FB5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처음 토큰 서비스를 이용한 사용자가 탐색기 기록에서 마주하는 문제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3C27F6-987E-4D80-995F-34F898818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95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6E0EC"/>
            </a:solidFill>
          </a:ln>
        </p:spPr>
      </p:sp>
      <p:sp>
        <p:nvSpPr>
          <p:cNvPr id="4" name="text-9">
            <a:extLst xmlns:a="http://schemas.openxmlformats.org/drawingml/2006/main">
              <a:ext uri="{FF2B5EF4-FFF2-40B4-BE49-F238E27FC236}">
                <a16:creationId xmlns:a16="http://schemas.microsoft.com/office/drawing/2014/main" id="{22C3ABD4-E4F6-4351-838F-7F32D15A1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ChainLens  체인렌즈</a:t>
            </a:r>
          </a:p>
        </p:txBody>
      </p:sp>
      <p:sp>
        <p:nvSpPr>
          <p:cNvPr id="5" name="text-10">
            <a:extLst xmlns:a="http://schemas.openxmlformats.org/drawingml/2006/main">
              <a:ext uri="{FF2B5EF4-FFF2-40B4-BE49-F238E27FC236}">
                <a16:creationId xmlns:a16="http://schemas.microsoft.com/office/drawing/2014/main" id="{AE95D44D-E342-4C57-B9AC-2D3850475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6" name="text-11">
            <a:extLst xmlns:a="http://schemas.openxmlformats.org/drawingml/2006/main">
              <a:ext uri="{FF2B5EF4-FFF2-40B4-BE49-F238E27FC236}">
                <a16:creationId xmlns:a16="http://schemas.microsoft.com/office/drawing/2014/main" id="{B1A704E5-428C-404F-A70D-5909A23C2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6096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450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“승인했는데,</a:t>
            </a:r>
          </a:p>
          <a:p xmlns:a="http://schemas.openxmlformats.org/drawingml/2006/main">
            <a:pPr>
              <a:defRPr sz="3450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450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토큰을 보낸 건가요?”</a:t>
            </a:r>
          </a:p>
        </p:txBody>
      </p:sp>
      <p:sp>
        <p:nvSpPr>
          <p:cNvPr id="7" name="text-12">
            <a:extLst xmlns:a="http://schemas.openxmlformats.org/drawingml/2006/main">
              <a:ext uri="{FF2B5EF4-FFF2-40B4-BE49-F238E27FC236}">
                <a16:creationId xmlns:a16="http://schemas.microsoft.com/office/drawing/2014/main" id="{A144AAF3-F44E-49E4-A7A3-DC7DBCC46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6191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rPr>
              <a:t>Success, 주소, 이벤트 로그는 보이지만</a:t>
            </a:r>
          </a:p>
          <a:p xmlns:a="http://schemas.openxmlformats.org/drawingml/2006/main">
            <a:pPr>
              <a:defRPr sz="2175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rPr>
              <a:t>전송과 사용 권한 설정은 바로 구분하기 어렵습니다.</a:t>
            </a:r>
          </a:p>
        </p:txBody>
      </p:sp>
      <p:graphicFrame>
        <p:nvGraphicFramePr>
          <p:cNvPr id="18" name=""/>
          <p:cNvGraphicFramePr/>
          <p:nvPr/>
        </p:nvGraphicFramePr>
        <p:xfrm>
          <a:off xmlns:a="http://schemas.openxmlformats.org/drawingml/2006/main" x="7124700" y="1676400"/>
          <a:ext xmlns:a="http://schemas.openxmlformats.org/drawingml/2006/main" cx="443865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09800"/>
                <a:gridCol w="2228850"/>
              </a:tblGrid>
              <a:tr h="73818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사용자가 알고 싶은 것</a:t>
                      </a:r>
                    </a:p>
                  </a:txBody>
                  <a:tcPr marL="142875" marR="142875" marT="104775" marB="95250" anchor="ctr">
                    <a:solidFill>
                      <a:srgbClr val="0C274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읽어야 하는 원본</a:t>
                      </a:r>
                    </a:p>
                  </a:txBody>
                  <a:tcPr marL="142875" marR="142875" marT="104775" marB="95250" anchor="ctr">
                    <a:solidFill>
                      <a:srgbClr val="0C274B"/>
                    </a:solidFill>
                  </a:tcPr>
                </a:tc>
              </a:tr>
              <a:tr h="73818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어떤 자산이 어디로 이동했나?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transaction value, Transfer 이벤트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</a:tr>
              <a:tr h="73818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돈을 보냈나, 사용 권한을 줬나?</a:t>
                      </a:r>
                    </a:p>
                  </a:txBody>
                  <a:tcPr marL="142875" marR="142875" marT="104775" marB="95250" anchor="ctr">
                    <a:solidFill>
                      <a:srgbClr val="F7F9FC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Approval 이벤트</a:t>
                      </a:r>
                    </a:p>
                  </a:txBody>
                  <a:tcPr marL="142875" marR="142875" marT="104775" marB="95250" anchor="ctr">
                    <a:solidFill>
                      <a:srgbClr val="F7F9FC"/>
                    </a:solidFill>
                  </a:tcPr>
                </a:tc>
              </a:tr>
              <a:tr h="73818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실행 결과와 수수료는 무엇인가?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receipt status, gasUsed, effectiveGasPrice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-13">
            <a:extLst xmlns:a="http://schemas.openxmlformats.org/drawingml/2006/main">
              <a:ext uri="{FF2B5EF4-FFF2-40B4-BE49-F238E27FC236}">
                <a16:creationId xmlns:a16="http://schemas.microsoft.com/office/drawing/2014/main" id="{B0A633C8-64C2-4388-9298-ACA82BF6E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53025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463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463DF"/>
                </a:solidFill>
                <a:latin typeface="Apple SD Gothic Neo"/>
                <a:ea typeface="Apple SD Gothic Neo"/>
                <a:cs typeface="Apple SD Gothic Neo"/>
              </a:rPr>
              <a:t>해시를 찾은 자리에서 짧은 영수증을 읽고, 필요할 때 원본 근거까지 확인합니다.</a:t>
            </a:r>
          </a:p>
        </p:txBody>
      </p:sp>
      <p:sp>
        <p:nvSpPr>
          <p:cNvPr id="10" name="text-14">
            <a:extLst xmlns:a="http://schemas.openxmlformats.org/drawingml/2006/main">
              <a:ext uri="{FF2B5EF4-FFF2-40B4-BE49-F238E27FC236}">
                <a16:creationId xmlns:a16="http://schemas.microsoft.com/office/drawing/2014/main" id="{E777D291-2694-4153-B5F3-69B80A219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95975"/>
            <a:ext cx="10668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대표 이용 상황을 바탕으로 한 문제 가설입니다. 사용자 인터뷰와 이해도 실험은 아직 진행하지 않았습니다.</a:t>
            </a:r>
          </a:p>
        </p:txBody>
      </p:sp>
    </p:spTree>
    <p:extLst>
      <p:ext uri="{BB962C8B-B14F-4D97-AF65-F5344CB8AC3E}">
        <p14:creationId xmlns:p14="http://schemas.microsoft.com/office/powerpoint/2010/main" val="97971171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-15">
            <a:extLst xmlns:a="http://schemas.openxmlformats.org/drawingml/2006/main">
              <a:ext uri="{FF2B5EF4-FFF2-40B4-BE49-F238E27FC236}">
                <a16:creationId xmlns:a16="http://schemas.microsoft.com/office/drawing/2014/main" id="{26551F94-C085-4A6F-B243-D6222BAAD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1000"/>
            <a:ext cx="1095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거래 요약은 이미 있습니다. 체인렌즈는 이해와 확인을 연결합니다</a:t>
            </a:r>
          </a:p>
        </p:txBody>
      </p:sp>
      <p:sp>
        <p:nvSpPr>
          <p:cNvPr id="2" name="text-16">
            <a:extLst xmlns:a="http://schemas.openxmlformats.org/drawingml/2006/main">
              <a:ext uri="{FF2B5EF4-FFF2-40B4-BE49-F238E27FC236}">
                <a16:creationId xmlns:a16="http://schemas.microsoft.com/office/drawing/2014/main" id="{EBDE4A1D-9E55-4BBD-9D53-3CAB13C11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기존 기능과 겹치는 부분을 인정하고, 한국어 영수증과 근거 연결을 검증합니다.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4CF951-464E-4BEF-ADD0-4EC095E32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95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6E0EC"/>
            </a:solidFill>
          </a:ln>
        </p:spPr>
      </p:sp>
      <p:sp>
        <p:nvSpPr>
          <p:cNvPr id="4" name="text-17">
            <a:extLst xmlns:a="http://schemas.openxmlformats.org/drawingml/2006/main">
              <a:ext uri="{FF2B5EF4-FFF2-40B4-BE49-F238E27FC236}">
                <a16:creationId xmlns:a16="http://schemas.microsoft.com/office/drawing/2014/main" id="{2D77B32D-F1EB-41BB-A911-AADD28C4A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ChainLens  체인렌즈</a:t>
            </a:r>
          </a:p>
        </p:txBody>
      </p:sp>
      <p:sp>
        <p:nvSpPr>
          <p:cNvPr id="5" name="text-18">
            <a:extLst xmlns:a="http://schemas.openxmlformats.org/drawingml/2006/main">
              <a:ext uri="{FF2B5EF4-FFF2-40B4-BE49-F238E27FC236}">
                <a16:creationId xmlns:a16="http://schemas.microsoft.com/office/drawing/2014/main" id="{C5BE1A09-1B0F-4709-8972-72A0AB185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609600" y="1657350"/>
          <a:ext xmlns:a="http://schemas.openxmlformats.org/drawingml/2006/main" cx="10953750" cy="2667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86125"/>
                <a:gridCol w="7667625"/>
              </a:tblGrid>
              <a:tr h="6667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기존 서비스</a:t>
                      </a:r>
                    </a:p>
                  </a:txBody>
                  <a:tcPr marL="142875" marR="142875" marT="104775" marB="95250" anchor="ctr">
                    <a:solidFill>
                      <a:srgbClr val="0C274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공식 문서에서 확인한 기능</a:t>
                      </a:r>
                    </a:p>
                  </a:txBody>
                  <a:tcPr marL="142875" marR="142875" marT="104775" marB="95250" anchor="ctr">
                    <a:solidFill>
                      <a:srgbClr val="0C274B"/>
                    </a:solidFill>
                  </a:tcPr>
                </a:tc>
              </a:tr>
              <a:tr h="6667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Etherscan Transaction Action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선별된 거래 행위 표시, 해당 행위가 없는 거래의 AI 요약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Blockscout Interpreter</a:t>
                      </a:r>
                    </a:p>
                  </a:txBody>
                  <a:tcPr marL="142875" marR="142875" marT="104775" marB="95250" anchor="ctr">
                    <a:solidFill>
                      <a:srgbClr val="F7F9FC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거래 데이터·디코딩·메타데이터 기반 요약, 규칙 분류와 LLM 보완</a:t>
                      </a:r>
                    </a:p>
                  </a:txBody>
                  <a:tcPr marL="142875" marR="142875" marT="104775" marB="95250" anchor="ctr">
                    <a:solidFill>
                      <a:srgbClr val="F7F9FC"/>
                    </a:solidFill>
                  </a:tcPr>
                </a:tc>
              </a:tr>
              <a:tr h="6667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Noves Translate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거래를 표준 유형으로 분류하는 해석 API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-19">
            <a:extLst xmlns:a="http://schemas.openxmlformats.org/drawingml/2006/main">
              <a:ext uri="{FF2B5EF4-FFF2-40B4-BE49-F238E27FC236}">
                <a16:creationId xmlns:a16="http://schemas.microsoft.com/office/drawing/2014/main" id="{5063C486-60B4-4752-9DC9-E4BF7BEF1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463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463DF"/>
                </a:solidFill>
                <a:latin typeface="Apple SD Gothic Neo"/>
                <a:ea typeface="Apple SD Gothic Neo"/>
                <a:cs typeface="Apple SD Gothic Neo"/>
              </a:rPr>
              <a:t>차별화 가설</a:t>
            </a:r>
          </a:p>
        </p:txBody>
      </p:sp>
      <p:sp>
        <p:nvSpPr>
          <p:cNvPr id="8" name="text-20">
            <a:extLst xmlns:a="http://schemas.openxmlformats.org/drawingml/2006/main">
              <a:ext uri="{FF2B5EF4-FFF2-40B4-BE49-F238E27FC236}">
                <a16:creationId xmlns:a16="http://schemas.microsoft.com/office/drawing/2014/main" id="{9BDB8167-E2F4-4AF7-A524-388FB6404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72075"/>
            <a:ext cx="704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rPr>
              <a:t>자산·권한·수수료를 초보자의 질문 순서로 분리하고,</a:t>
            </a:r>
          </a:p>
          <a:p xmlns:a="http://schemas.openxmlformats.org/drawingml/2006/main">
            <a:pPr>
              <a:defRPr sz="2100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rPr>
              <a:t>설명마다 원본 근거와 확인 수준을 연결합니다.</a:t>
            </a:r>
          </a:p>
        </p:txBody>
      </p:sp>
      <p:sp>
        <p:nvSpPr>
          <p:cNvPr id="9" name="text-21">
            <a:extLst xmlns:a="http://schemas.openxmlformats.org/drawingml/2006/main">
              <a:ext uri="{FF2B5EF4-FFF2-40B4-BE49-F238E27FC236}">
                <a16:creationId xmlns:a16="http://schemas.microsoft.com/office/drawing/2014/main" id="{7B5AFEFE-9601-430F-AFCA-F2953964A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191125"/>
            <a:ext cx="333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463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463DF"/>
                </a:solidFill>
                <a:latin typeface="Apple SD Gothic Neo"/>
                <a:ea typeface="Apple SD Gothic Neo"/>
                <a:cs typeface="Apple SD Gothic Neo"/>
              </a:rPr>
              <a:t>빠른 영수증과</a:t>
            </a:r>
          </a:p>
          <a:p xmlns:a="http://schemas.openxmlformats.org/drawingml/2006/main">
            <a:pPr>
              <a:defRPr sz="1800" b="1">
                <a:solidFill>
                  <a:srgbClr val="1463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463DF"/>
                </a:solidFill>
                <a:latin typeface="Apple SD Gothic Neo"/>
                <a:ea typeface="Apple SD Gothic Neo"/>
                <a:cs typeface="Apple SD Gothic Neo"/>
              </a:rPr>
              <a:t>오른쪽 근거 패널을 잇는</a:t>
            </a:r>
          </a:p>
          <a:p xmlns:a="http://schemas.openxmlformats.org/drawingml/2006/main">
            <a:pPr>
              <a:defRPr sz="1800" b="1">
                <a:solidFill>
                  <a:srgbClr val="1463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463DF"/>
                </a:solidFill>
                <a:latin typeface="Apple SD Gothic Neo"/>
                <a:ea typeface="Apple SD Gothic Neo"/>
                <a:cs typeface="Apple SD Gothic Neo"/>
              </a:rPr>
              <a:t>Chrome 경험</a:t>
            </a:r>
          </a:p>
        </p:txBody>
      </p:sp>
    </p:spTree>
    <p:extLst>
      <p:ext uri="{BB962C8B-B14F-4D97-AF65-F5344CB8AC3E}">
        <p14:creationId xmlns:p14="http://schemas.microsoft.com/office/powerpoint/2010/main" val="70857323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22">
            <a:extLst xmlns:a="http://schemas.openxmlformats.org/drawingml/2006/main">
              <a:ext uri="{FF2B5EF4-FFF2-40B4-BE49-F238E27FC236}">
                <a16:creationId xmlns:a16="http://schemas.microsoft.com/office/drawing/2014/main" id="{60A17B9C-FC91-49FD-B27B-A406A89CD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1000"/>
            <a:ext cx="1095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드래그·우클릭하면, 바로 거래 영수증을 봅니다</a:t>
            </a:r>
          </a:p>
        </p:txBody>
      </p:sp>
      <p:sp>
        <p:nvSpPr>
          <p:cNvPr id="2" name="text-23">
            <a:extLst xmlns:a="http://schemas.openxmlformats.org/drawingml/2006/main">
              <a:ext uri="{FF2B5EF4-FFF2-40B4-BE49-F238E27FC236}">
                <a16:creationId xmlns:a16="http://schemas.microsoft.com/office/drawing/2014/main" id="{71708588-AD12-4D93-9AFC-957B26EBC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현재 웹 MVP 화면과 실제로 구현·검증한 Chrome 확장 흐름을 구분해 제시합니다.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0D4C32-A10A-48D9-B0E8-598FE698A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95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6E0EC"/>
            </a:solidFill>
          </a:ln>
        </p:spPr>
      </p:sp>
      <p:sp>
        <p:nvSpPr>
          <p:cNvPr id="4" name="text-24">
            <a:extLst xmlns:a="http://schemas.openxmlformats.org/drawingml/2006/main">
              <a:ext uri="{FF2B5EF4-FFF2-40B4-BE49-F238E27FC236}">
                <a16:creationId xmlns:a16="http://schemas.microsoft.com/office/drawing/2014/main" id="{4BA5A2E1-0269-4B4F-B737-2F0DEED77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ChainLens  체인렌즈</a:t>
            </a:r>
          </a:p>
        </p:txBody>
      </p:sp>
      <p:sp>
        <p:nvSpPr>
          <p:cNvPr id="5" name="text-25">
            <a:extLst xmlns:a="http://schemas.openxmlformats.org/drawingml/2006/main">
              <a:ext uri="{FF2B5EF4-FFF2-40B4-BE49-F238E27FC236}">
                <a16:creationId xmlns:a16="http://schemas.microsoft.com/office/drawing/2014/main" id="{FF02586C-81DF-438D-889A-F8BDDFA7D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260f33c41b4168"/>
          <a:srcRect xmlns:a="http://schemas.openxmlformats.org/drawingml/2006/main" l="77" t="0" r="7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2143125"/>
            <a:ext cx="6162675" cy="2657475"/>
          </a:xfrm>
          <a:prstGeom xmlns:a="http://schemas.openxmlformats.org/drawingml/2006/main" prst="rect">
            <a:avLst/>
          </a:prstGeom>
        </p:spPr>
      </p:pic>
      <p:sp>
        <p:nvSpPr>
          <p:cNvPr id="7" name="text-26">
            <a:extLst xmlns:a="http://schemas.openxmlformats.org/drawingml/2006/main">
              <a:ext uri="{FF2B5EF4-FFF2-40B4-BE49-F238E27FC236}">
                <a16:creationId xmlns:a16="http://schemas.microsoft.com/office/drawing/2014/main" id="{116E48BB-077C-4C2E-B97D-E1550FDE9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00625"/>
            <a:ext cx="6143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기존 웹 MVP 성공 거래 화면 (확장 UI가 아님)</a:t>
            </a:r>
          </a:p>
        </p:txBody>
      </p:sp>
      <p:sp>
        <p:nvSpPr>
          <p:cNvPr id="8" name="text-27">
            <a:extLst xmlns:a="http://schemas.openxmlformats.org/drawingml/2006/main">
              <a:ext uri="{FF2B5EF4-FFF2-40B4-BE49-F238E27FC236}">
                <a16:creationId xmlns:a16="http://schemas.microsoft.com/office/drawing/2014/main" id="{6406B18C-D583-429C-96F7-330D1041D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9545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463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463DF"/>
                </a:solidFill>
                <a:latin typeface="Apple SD Gothic Neo"/>
                <a:ea typeface="Apple SD Gothic Neo"/>
                <a:cs typeface="Apple SD Gothic Neo"/>
              </a:rPr>
              <a:t>Chrome 확장 실제 흐름</a:t>
            </a:r>
          </a:p>
        </p:txBody>
      </p:sp>
      <p:sp>
        <p:nvSpPr>
          <p:cNvPr id="9" name="node-28">
            <a:extLst xmlns:a="http://schemas.openxmlformats.org/drawingml/2006/main">
              <a:ext uri="{FF2B5EF4-FFF2-40B4-BE49-F238E27FC236}">
                <a16:creationId xmlns:a16="http://schemas.microsoft.com/office/drawing/2014/main" id="{02A7E981-2BB2-4068-9AA6-A30629439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305050"/>
            <a:ext cx="1219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11906">
            <a:solidFill>
              <a:srgbClr val="D6E0EC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  <a:p xmlns:a="http://schemas.openxmlformats.org/drawingml/2006/main">
            <a:pPr algn="ctr">
              <a:def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해시 선택</a:t>
            </a:r>
          </a:p>
        </p:txBody>
      </p:sp>
      <p:sp>
        <p:nvSpPr>
          <p:cNvPr id="10" name="node-29">
            <a:extLst xmlns:a="http://schemas.openxmlformats.org/drawingml/2006/main">
              <a:ext uri="{FF2B5EF4-FFF2-40B4-BE49-F238E27FC236}">
                <a16:creationId xmlns:a16="http://schemas.microsoft.com/office/drawing/2014/main" id="{7F559502-552F-4A8C-B5AC-E561CAD61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305050"/>
            <a:ext cx="1219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11906">
            <a:solidFill>
              <a:srgbClr val="D6E0EC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  <a:p xmlns:a="http://schemas.openxmlformats.org/drawingml/2006/main">
            <a:pPr algn="ctr">
              <a:def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우클릭 메뉴</a:t>
            </a:r>
          </a:p>
        </p:txBody>
      </p:sp>
      <p:sp>
        <p:nvSpPr>
          <p:cNvPr id="11" name="node-30">
            <a:extLst xmlns:a="http://schemas.openxmlformats.org/drawingml/2006/main">
              <a:ext uri="{FF2B5EF4-FFF2-40B4-BE49-F238E27FC236}">
                <a16:creationId xmlns:a16="http://schemas.microsoft.com/office/drawing/2014/main" id="{8F46939B-22A0-4B0C-B63C-A8583CF30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305050"/>
            <a:ext cx="1352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11906">
            <a:solidFill>
              <a:srgbClr val="D6E0EC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  <a:p xmlns:a="http://schemas.openxmlformats.org/drawingml/2006/main">
            <a:pPr algn="ctr">
              <a:def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Shadow DOM</a:t>
            </a:r>
          </a:p>
          <a:p xmlns:a="http://schemas.openxmlformats.org/drawingml/2006/main">
            <a:pPr algn="ctr">
              <a:def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빠른 영수증</a:t>
            </a:r>
          </a:p>
        </p:txBody>
      </p:sp>
      <p:sp>
        <p:nvSpPr>
          <p:cNvPr id="12" name="node-31">
            <a:extLst xmlns:a="http://schemas.openxmlformats.org/drawingml/2006/main">
              <a:ext uri="{FF2B5EF4-FFF2-40B4-BE49-F238E27FC236}">
                <a16:creationId xmlns:a16="http://schemas.microsoft.com/office/drawing/2014/main" id="{1AE05503-C1B7-451F-8F7D-DA06F69FB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676650"/>
            <a:ext cx="15430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ED"/>
          </a:solidFill>
          <a:ln xmlns:a="http://schemas.openxmlformats.org/drawingml/2006/main" w="11906">
            <a:solidFill>
              <a:srgbClr val="9FCBB1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  <a:p xmlns:a="http://schemas.openxmlformats.org/drawingml/2006/main">
            <a:pPr algn="ctr">
              <a:def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오른쪽</a:t>
            </a:r>
          </a:p>
          <a:p xmlns:a="http://schemas.openxmlformats.org/drawingml/2006/main">
            <a:pPr algn="ctr">
              <a:def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Side Panel</a:t>
            </a:r>
          </a:p>
        </p:txBody>
      </p:sp>
      <p:cxnSp>
        <p:nvCxnSpPr>
          <p:cNvPr id="30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8458200" y="26955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463DF"/>
            </a:solidFill>
            <a:tailEnd type="arrow" w="med" len="med"/>
          </a:ln>
        </p:spPr>
      </p:cxnSp>
      <p:cxnSp>
        <p:nvCxnSpPr>
          <p:cNvPr id="31" name=""/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9944100" y="269557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463DF"/>
            </a:solidFill>
            <a:tailEnd type="arrow" w="med" len="med"/>
          </a:ln>
        </p:spPr>
      </p:cxnSp>
      <p:cxnSp>
        <p:nvCxnSpPr>
          <p:cNvPr id="32" name=""/>
          <p:cNvCxnSpPr>
            <a:stCxn xmlns:a="http://schemas.openxmlformats.org/drawingml/2006/main" id="11" idx="2"/>
            <a:endCxn xmlns:a="http://schemas.openxmlformats.org/drawingml/2006/main" id="12" idx="3"/>
          </p:cNvCxnSpPr>
          <p:nvPr/>
        </p:nvCxnSpPr>
        <p:spPr>
          <a:xfrm xmlns:a="http://schemas.openxmlformats.org/drawingml/2006/main" flipH="1">
            <a:off x="10267950" y="3086100"/>
            <a:ext cx="619125" cy="10191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463DF"/>
            </a:solidFill>
            <a:tailEnd type="arrow" w="med" len="med"/>
          </a:ln>
        </p:spPr>
      </p:cxnSp>
      <p:sp>
        <p:nvSpPr>
          <p:cNvPr id="16" name="text-32">
            <a:extLst xmlns:a="http://schemas.openxmlformats.org/drawingml/2006/main">
              <a:ext uri="{FF2B5EF4-FFF2-40B4-BE49-F238E27FC236}">
                <a16:creationId xmlns:a16="http://schemas.microsoft.com/office/drawing/2014/main" id="{1CDE1377-3696-4886-994C-239F9B672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810125"/>
            <a:ext cx="4286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rPr>
              <a:t>Etherscan·Ethereum Blockscout 지원</a:t>
            </a:r>
          </a:p>
          <a:p xmlns:a="http://schemas.openxmlformats.org/drawingml/2006/main">
            <a:pPr>
              <a:defRPr sz="1575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rPr>
              <a:t>확장 아이콘이 URL을 인식해 같은</a:t>
            </a:r>
          </a:p>
          <a:p xmlns:a="http://schemas.openxmlformats.org/drawingml/2006/main">
            <a:pPr>
              <a:defRPr sz="1575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rPr>
              <a:t>Side Panel을 엽니다.</a:t>
            </a:r>
          </a:p>
        </p:txBody>
      </p:sp>
      <p:sp>
        <p:nvSpPr>
          <p:cNvPr id="17" name="text-33">
            <a:extLst xmlns:a="http://schemas.openxmlformats.org/drawingml/2006/main">
              <a:ext uri="{FF2B5EF4-FFF2-40B4-BE49-F238E27FC236}">
                <a16:creationId xmlns:a16="http://schemas.microsoft.com/office/drawing/2014/main" id="{8C8AA2B4-DD25-430A-A867-5D36CAAAF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810250"/>
            <a:ext cx="428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Chrome unpacked E2E 완료 · 우클릭·Side Panel 확인</a:t>
            </a:r>
          </a:p>
        </p:txBody>
      </p:sp>
    </p:spTree>
    <p:extLst>
      <p:ext uri="{BB962C8B-B14F-4D97-AF65-F5344CB8AC3E}">
        <p14:creationId xmlns:p14="http://schemas.microsoft.com/office/powerpoint/2010/main" val="33135514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34">
            <a:extLst xmlns:a="http://schemas.openxmlformats.org/drawingml/2006/main">
              <a:ext uri="{FF2B5EF4-FFF2-40B4-BE49-F238E27FC236}">
                <a16:creationId xmlns:a16="http://schemas.microsoft.com/office/drawing/2014/main" id="{71315F94-B0BB-4A1C-BE81-7D4115963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1000"/>
            <a:ext cx="1095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전송, 승인, 실패를 다르게 설명합니다</a:t>
            </a:r>
          </a:p>
        </p:txBody>
      </p:sp>
      <p:sp>
        <p:nvSpPr>
          <p:cNvPr id="2" name="text-35">
            <a:extLst xmlns:a="http://schemas.openxmlformats.org/drawingml/2006/main">
              <a:ext uri="{FF2B5EF4-FFF2-40B4-BE49-F238E27FC236}">
                <a16:creationId xmlns:a16="http://schemas.microsoft.com/office/drawing/2014/main" id="{88184FA1-9127-47F9-A42D-8FB02156C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코드가 관측한 사실과 화면에 표시해야 할 주의사항을 함께 관리합니다.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D971D7-7057-4910-8474-4AF956C70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95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6E0EC"/>
            </a:solidFill>
          </a:ln>
        </p:spPr>
      </p:sp>
      <p:sp>
        <p:nvSpPr>
          <p:cNvPr id="4" name="text-36">
            <a:extLst xmlns:a="http://schemas.openxmlformats.org/drawingml/2006/main">
              <a:ext uri="{FF2B5EF4-FFF2-40B4-BE49-F238E27FC236}">
                <a16:creationId xmlns:a16="http://schemas.microsoft.com/office/drawing/2014/main" id="{490ACF52-D310-4CF6-A767-4F0F2D1D1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ChainLens  체인렌즈</a:t>
            </a:r>
          </a:p>
        </p:txBody>
      </p:sp>
      <p:sp>
        <p:nvSpPr>
          <p:cNvPr id="5" name="text-37">
            <a:extLst xmlns:a="http://schemas.openxmlformats.org/drawingml/2006/main">
              <a:ext uri="{FF2B5EF4-FFF2-40B4-BE49-F238E27FC236}">
                <a16:creationId xmlns:a16="http://schemas.microsoft.com/office/drawing/2014/main" id="{57E8B0CB-B68E-4DB2-A981-5CBD7C2BF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5375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19250"/>
                <a:gridCol w="4381500"/>
                <a:gridCol w="4953000"/>
              </a:tblGrid>
              <a:tr h="73818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장면</a:t>
                      </a:r>
                    </a:p>
                  </a:txBody>
                  <a:tcPr marL="142875" marR="142875" marT="104775" marB="95250" anchor="ctr">
                    <a:solidFill>
                      <a:srgbClr val="0C274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사용자에게 보여줄 해석</a:t>
                      </a:r>
                    </a:p>
                  </a:txBody>
                  <a:tcPr marL="142875" marR="142875" marT="104775" marB="95250" anchor="ctr">
                    <a:solidFill>
                      <a:srgbClr val="0C274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근거·주의</a:t>
                      </a:r>
                    </a:p>
                  </a:txBody>
                  <a:tcPr marL="142875" marR="142875" marT="104775" marB="95250" anchor="ctr">
                    <a:solidFill>
                      <a:srgbClr val="0C274B"/>
                    </a:solidFill>
                  </a:tcPr>
                </a:tc>
              </a:tr>
              <a:tr h="73818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전송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어떤 자산이 어느 주소로 이동했는지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value 또는 Transfer 로그. 전체 잔액 변화와 구분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</a:tr>
              <a:tr h="73818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승인</a:t>
                      </a:r>
                    </a:p>
                  </a:txBody>
                  <a:tcPr marL="142875" marR="142875" marT="104775" marB="95250" anchor="ctr">
                    <a:solidFill>
                      <a:srgbClr val="F7F9FC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어느 주소에 당시 사용 한도를 설정했는지</a:t>
                      </a:r>
                    </a:p>
                  </a:txBody>
                  <a:tcPr marL="142875" marR="142875" marT="104775" marB="95250" anchor="ctr">
                    <a:solidFill>
                      <a:srgbClr val="F7F9FC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Approval 로그. 현재 allowance로 단정하지 않음</a:t>
                      </a:r>
                    </a:p>
                  </a:txBody>
                  <a:tcPr marL="142875" marR="142875" marT="104775" marB="95250" anchor="ctr">
                    <a:solidFill>
                      <a:srgbClr val="F7F9FC"/>
                    </a:solidFill>
                  </a:tcPr>
                </a:tc>
              </a:tr>
              <a:tr h="73818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실패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실행 실패와 발생한 수수료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receipt 상태. 요청된 이동을 완료로 표시하지 않음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-38">
            <a:extLst xmlns:a="http://schemas.openxmlformats.org/drawingml/2006/main">
              <a:ext uri="{FF2B5EF4-FFF2-40B4-BE49-F238E27FC236}">
                <a16:creationId xmlns:a16="http://schemas.microsoft.com/office/drawing/2014/main" id="{27D7C2B9-401C-4AD4-A59D-2C9824DFB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5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실제 저장 RPC 사례: USDC 전송, ETH 전송, 당시 USDC Approval, 실패 거래 4건</a:t>
            </a:r>
          </a:p>
        </p:txBody>
      </p:sp>
      <p:sp>
        <p:nvSpPr>
          <p:cNvPr id="8" name="text-39">
            <a:extLst xmlns:a="http://schemas.openxmlformats.org/drawingml/2006/main">
              <a:ext uri="{FF2B5EF4-FFF2-40B4-BE49-F238E27FC236}">
                <a16:creationId xmlns:a16="http://schemas.microsoft.com/office/drawing/2014/main" id="{0E3861E7-E334-477F-9BB2-B61109E6D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기존 웹 MVP의 실시간 대조는 35/35 항목을 기록했습니다. 정적·단위 검사는 전체 거래 정확도를 보장하지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36905378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40">
            <a:extLst xmlns:a="http://schemas.openxmlformats.org/drawingml/2006/main">
              <a:ext uri="{FF2B5EF4-FFF2-40B4-BE49-F238E27FC236}">
                <a16:creationId xmlns:a16="http://schemas.microsoft.com/office/drawing/2014/main" id="{93D90FDF-FA1D-4710-A34C-1B4F85E3A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1000"/>
            <a:ext cx="1095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체인에서 사실을 읽고, Groq는 용어만 설명합니다</a:t>
            </a:r>
          </a:p>
        </p:txBody>
      </p:sp>
      <p:sp>
        <p:nvSpPr>
          <p:cNvPr id="2" name="text-41">
            <a:extLst xmlns:a="http://schemas.openxmlformats.org/drawingml/2006/main">
              <a:ext uri="{FF2B5EF4-FFF2-40B4-BE49-F238E27FC236}">
                <a16:creationId xmlns:a16="http://schemas.microsoft.com/office/drawing/2014/main" id="{7958669B-A1B0-4E7A-A99C-95D52F068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Chrome MV3 확장과 웹 UI가 같은 로컬 API를 통해 검증된 사실을 받습니다.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258B0F-DFAB-406F-A24C-F4CA05E1A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95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6E0EC"/>
            </a:solidFill>
          </a:ln>
        </p:spPr>
      </p:sp>
      <p:sp>
        <p:nvSpPr>
          <p:cNvPr id="4" name="text-42">
            <a:extLst xmlns:a="http://schemas.openxmlformats.org/drawingml/2006/main">
              <a:ext uri="{FF2B5EF4-FFF2-40B4-BE49-F238E27FC236}">
                <a16:creationId xmlns:a16="http://schemas.microsoft.com/office/drawing/2014/main" id="{FA89A8AB-0E8F-4130-89A0-724BAAAE2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ChainLens  체인렌즈</a:t>
            </a:r>
          </a:p>
        </p:txBody>
      </p:sp>
      <p:sp>
        <p:nvSpPr>
          <p:cNvPr id="5" name="text-43">
            <a:extLst xmlns:a="http://schemas.openxmlformats.org/drawingml/2006/main">
              <a:ext uri="{FF2B5EF4-FFF2-40B4-BE49-F238E27FC236}">
                <a16:creationId xmlns:a16="http://schemas.microsoft.com/office/drawing/2014/main" id="{EC61ECD8-5E04-4732-BB21-53F3DF603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06</a:t>
            </a:r>
          </a:p>
        </p:txBody>
      </p:sp>
      <p:sp>
        <p:nvSpPr>
          <p:cNvPr id="6" name="node-44">
            <a:extLst xmlns:a="http://schemas.openxmlformats.org/drawingml/2006/main">
              <a:ext uri="{FF2B5EF4-FFF2-40B4-BE49-F238E27FC236}">
                <a16:creationId xmlns:a16="http://schemas.microsoft.com/office/drawing/2014/main" id="{671B8377-8A7C-44FF-8698-BFB30C531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33147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F"/>
          </a:solidFill>
          <a:ln xmlns:a="http://schemas.openxmlformats.org/drawingml/2006/main" w="11906">
            <a:solidFill>
              <a:srgbClr val="D6E0EC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웹 UI / MV3 확장</a:t>
            </a:r>
          </a:p>
          <a:p xmlns:a="http://schemas.openxmlformats.org/drawingml/2006/main">
            <a:pPr algn="ctr">
              <a:def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Context menu · Shadow DOM · Side Panel</a:t>
            </a:r>
          </a:p>
        </p:txBody>
      </p:sp>
      <p:sp>
        <p:nvSpPr>
          <p:cNvPr id="7" name="node-45">
            <a:extLst xmlns:a="http://schemas.openxmlformats.org/drawingml/2006/main">
              <a:ext uri="{FF2B5EF4-FFF2-40B4-BE49-F238E27FC236}">
                <a16:creationId xmlns:a16="http://schemas.microsoft.com/office/drawing/2014/main" id="{7BCAAAEA-1CDE-4974-B853-EFDEF729D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685925"/>
            <a:ext cx="33147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F"/>
          </a:solidFill>
          <a:ln xmlns:a="http://schemas.openxmlformats.org/drawingml/2006/main" w="11906">
            <a:solidFill>
              <a:srgbClr val="D6E0EC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로컬 Node.js API</a:t>
            </a:r>
          </a:p>
          <a:p xmlns:a="http://schemas.openxmlformats.org/drawingml/2006/main">
            <a:pPr algn="ctr">
              <a:def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hash·URL 검증 · CORS · operation 상태</a:t>
            </a:r>
          </a:p>
        </p:txBody>
      </p:sp>
      <p:sp>
        <p:nvSpPr>
          <p:cNvPr id="8" name="node-46">
            <a:extLst xmlns:a="http://schemas.openxmlformats.org/drawingml/2006/main">
              <a:ext uri="{FF2B5EF4-FFF2-40B4-BE49-F238E27FC236}">
                <a16:creationId xmlns:a16="http://schemas.microsoft.com/office/drawing/2014/main" id="{53FF9727-BFB1-4553-86BC-732D8ADDC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685925"/>
            <a:ext cx="33147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F"/>
          </a:solidFill>
          <a:ln xmlns:a="http://schemas.openxmlformats.org/drawingml/2006/main" w="11906">
            <a:solidFill>
              <a:srgbClr val="D6E0EC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Ethereum JSON-RPC</a:t>
            </a:r>
          </a:p>
          <a:p xmlns:a="http://schemas.openxmlformats.org/drawingml/2006/main">
            <a:pPr algn="ctr">
              <a:def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transaction · receipt · logs</a:t>
            </a:r>
          </a:p>
        </p:txBody>
      </p:sp>
      <p:sp>
        <p:nvSpPr>
          <p:cNvPr id="9" name="node-47">
            <a:extLst xmlns:a="http://schemas.openxmlformats.org/drawingml/2006/main">
              <a:ext uri="{FF2B5EF4-FFF2-40B4-BE49-F238E27FC236}">
                <a16:creationId xmlns:a16="http://schemas.microsoft.com/office/drawing/2014/main" id="{56E12569-9A8B-4F4C-A775-7951C0AE2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371850"/>
            <a:ext cx="33147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ED"/>
          </a:solidFill>
          <a:ln xmlns:a="http://schemas.openxmlformats.org/drawingml/2006/main" w="11906">
            <a:solidFill>
              <a:srgbClr val="9FCBB1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사실 추출</a:t>
            </a:r>
          </a:p>
          <a:p xmlns:a="http://schemas.openxmlformats.org/drawingml/2006/main">
            <a:pPr algn="ctr">
              <a:def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BigInt · Transfer · Approval · 수수료</a:t>
            </a:r>
          </a:p>
        </p:txBody>
      </p:sp>
      <p:sp>
        <p:nvSpPr>
          <p:cNvPr id="10" name="node-48">
            <a:extLst xmlns:a="http://schemas.openxmlformats.org/drawingml/2006/main">
              <a:ext uri="{FF2B5EF4-FFF2-40B4-BE49-F238E27FC236}">
                <a16:creationId xmlns:a16="http://schemas.microsoft.com/office/drawing/2014/main" id="{AF8E6546-3FA9-4D8D-A5A5-8061C6E84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371850"/>
            <a:ext cx="33147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E5"/>
          </a:solidFill>
          <a:ln xmlns:a="http://schemas.openxmlformats.org/drawingml/2006/main" w="11906">
            <a:solidFill>
              <a:srgbClr val="D7BD74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Groq 전용 설명 경로</a:t>
            </a:r>
          </a:p>
          <a:p xmlns:a="http://schemas.openxmlformats.org/drawingml/2006/main">
            <a:pPr algn="ctr">
              <a:def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safeFacts만 전달 · JSON / output guard</a:t>
            </a:r>
          </a:p>
        </p:txBody>
      </p:sp>
      <p:sp>
        <p:nvSpPr>
          <p:cNvPr id="11" name="node-49">
            <a:extLst xmlns:a="http://schemas.openxmlformats.org/drawingml/2006/main">
              <a:ext uri="{FF2B5EF4-FFF2-40B4-BE49-F238E27FC236}">
                <a16:creationId xmlns:a16="http://schemas.microsoft.com/office/drawing/2014/main" id="{0738CE40-90BE-4B8E-AEA1-A1A6FC0F8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924425"/>
            <a:ext cx="33147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11906">
            <a:solidFill>
              <a:srgbClr val="D6E0EC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규칙 기반 설명</a:t>
            </a:r>
          </a:p>
          <a:p xmlns:a="http://schemas.openxmlformats.org/drawingml/2006/main">
            <a:pPr algn="ctr">
              <a:def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키·HTTP·timeout·guard 실패 시 전환</a:t>
            </a:r>
          </a:p>
        </p:txBody>
      </p:sp>
      <p:cxnSp>
        <p:nvCxnSpPr>
          <p:cNvPr id="29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924300" y="2162175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463DF"/>
            </a:solidFill>
            <a:tailEnd type="arrow" w="med" len="med"/>
          </a:ln>
        </p:spPr>
      </p:cxnSp>
      <p:cxnSp>
        <p:nvCxnSpPr>
          <p:cNvPr id="30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7753350" y="2162175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463DF"/>
            </a:solidFill>
            <a:tailEnd type="arrow" w="med" len="med"/>
          </a:ln>
        </p:spPr>
      </p:cxnSp>
      <p:cxnSp>
        <p:nvCxnSpPr>
          <p:cNvPr id="31" name=""/>
          <p:cNvCxnSpPr>
            <a:stCxn xmlns:a="http://schemas.openxmlformats.org/drawingml/2006/main" id="8" idx="2"/>
            <a:endCxn xmlns:a="http://schemas.openxmlformats.org/drawingml/2006/main" id="9" idx="3"/>
          </p:cNvCxnSpPr>
          <p:nvPr/>
        </p:nvCxnSpPr>
        <p:spPr>
          <a:xfrm xmlns:a="http://schemas.openxmlformats.org/drawingml/2006/main" flipH="1">
            <a:off x="7753350" y="2638425"/>
            <a:ext cx="2171700" cy="12096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463DF"/>
            </a:solidFill>
            <a:tailEnd type="arrow" w="med" len="med"/>
          </a:ln>
        </p:spPr>
      </p:cxnSp>
      <p:cxnSp>
        <p:nvCxnSpPr>
          <p:cNvPr id="32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7753350" y="3848100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463DF"/>
            </a:solidFill>
            <a:tailEnd type="arrow" w="med" len="med"/>
          </a:ln>
        </p:spPr>
      </p:cxnSp>
      <p:cxnSp>
        <p:nvCxnSpPr>
          <p:cNvPr id="33" name=""/>
          <p:cNvCxnSpPr>
            <a:stCxn xmlns:a="http://schemas.openxmlformats.org/drawingml/2006/main" id="10" idx="1"/>
            <a:endCxn xmlns:a="http://schemas.openxmlformats.org/drawingml/2006/main" id="11" idx="3"/>
          </p:cNvCxnSpPr>
          <p:nvPr/>
        </p:nvCxnSpPr>
        <p:spPr>
          <a:xfrm xmlns:a="http://schemas.openxmlformats.org/drawingml/2006/main" flipH="1">
            <a:off x="7753350" y="3848100"/>
            <a:ext cx="514350" cy="14573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95800"/>
            </a:solidFill>
            <a:tailEnd type="arrow" w="med" len="med"/>
          </a:ln>
        </p:spPr>
      </p:cxnSp>
      <p:sp>
        <p:nvSpPr>
          <p:cNvPr id="17" name="text-50">
            <a:extLst xmlns:a="http://schemas.openxmlformats.org/drawingml/2006/main">
              <a:ext uri="{FF2B5EF4-FFF2-40B4-BE49-F238E27FC236}">
                <a16:creationId xmlns:a16="http://schemas.microsoft.com/office/drawing/2014/main" id="{66C24916-B3E7-4CF7-A015-8154A00DE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86450"/>
            <a:ext cx="1095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9B343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9B3434"/>
                </a:solidFill>
                <a:latin typeface="Apple SD Gothic Neo"/>
                <a:ea typeface="Apple SD Gothic Neo"/>
                <a:cs typeface="Apple SD Gothic Neo"/>
              </a:rPr>
              <a:t>경계: API 키는 서버 환경변수에만 둡니다. 확장·ZIP·UI에는 넣지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82969764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51">
            <a:extLst xmlns:a="http://schemas.openxmlformats.org/drawingml/2006/main">
              <a:ext uri="{FF2B5EF4-FFF2-40B4-BE49-F238E27FC236}">
                <a16:creationId xmlns:a16="http://schemas.microsoft.com/office/drawing/2014/main" id="{4F89C720-223F-4642-9D61-BF5553DA9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1000"/>
            <a:ext cx="1095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블록체인은 사실의 출처, AI는 설명 계층입니다</a:t>
            </a:r>
          </a:p>
        </p:txBody>
      </p:sp>
      <p:sp>
        <p:nvSpPr>
          <p:cNvPr id="2" name="text-52">
            <a:extLst xmlns:a="http://schemas.openxmlformats.org/drawingml/2006/main">
              <a:ext uri="{FF2B5EF4-FFF2-40B4-BE49-F238E27FC236}">
                <a16:creationId xmlns:a16="http://schemas.microsoft.com/office/drawing/2014/main" id="{7D9F2B74-5397-4B77-8ADB-7D7A02F8B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수량·주소·실행 결과를 AI가 새로 만들지 못하도록 경계를 둡니다.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7438E7-7B99-417B-9384-EF41B20FF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95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6E0EC"/>
            </a:solidFill>
          </a:ln>
        </p:spPr>
      </p:sp>
      <p:sp>
        <p:nvSpPr>
          <p:cNvPr id="4" name="text-53">
            <a:extLst xmlns:a="http://schemas.openxmlformats.org/drawingml/2006/main">
              <a:ext uri="{FF2B5EF4-FFF2-40B4-BE49-F238E27FC236}">
                <a16:creationId xmlns:a16="http://schemas.microsoft.com/office/drawing/2014/main" id="{ABF1C3EA-EC6A-4245-9B1A-AEF495508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ChainLens  체인렌즈</a:t>
            </a:r>
          </a:p>
        </p:txBody>
      </p:sp>
      <p:sp>
        <p:nvSpPr>
          <p:cNvPr id="5" name="text-54">
            <a:extLst xmlns:a="http://schemas.openxmlformats.org/drawingml/2006/main">
              <a:ext uri="{FF2B5EF4-FFF2-40B4-BE49-F238E27FC236}">
                <a16:creationId xmlns:a16="http://schemas.microsoft.com/office/drawing/2014/main" id="{238C69D9-02CB-4D08-B99F-8CD6DC89D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1C7ED2-68EB-4A43-9A19-69026A011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6573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6E0EC"/>
            </a:solidFill>
          </a:ln>
        </p:spPr>
      </p:sp>
      <p:sp>
        <p:nvSpPr>
          <p:cNvPr id="7" name="text-55">
            <a:extLst xmlns:a="http://schemas.openxmlformats.org/drawingml/2006/main">
              <a:ext uri="{FF2B5EF4-FFF2-40B4-BE49-F238E27FC236}">
                <a16:creationId xmlns:a16="http://schemas.microsoft.com/office/drawing/2014/main" id="{8D99C85E-032B-4EDB-A22D-3C1768ADC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463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463DF"/>
                </a:solidFill>
                <a:latin typeface="Apple SD Gothic Neo"/>
                <a:ea typeface="Apple SD Gothic Neo"/>
                <a:cs typeface="Apple SD Gothic Neo"/>
              </a:rPr>
              <a:t>코드·블록체인 데이터</a:t>
            </a:r>
          </a:p>
        </p:txBody>
      </p:sp>
      <p:sp>
        <p:nvSpPr>
          <p:cNvPr id="8" name="text-56">
            <a:extLst xmlns:a="http://schemas.openxmlformats.org/drawingml/2006/main">
              <a:ext uri="{FF2B5EF4-FFF2-40B4-BE49-F238E27FC236}">
                <a16:creationId xmlns:a16="http://schemas.microsoft.com/office/drawing/2014/main" id="{AA906953-768A-4A1D-B8D4-43FACBC51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7716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463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463DF"/>
                </a:solidFill>
                <a:latin typeface="Apple SD Gothic Neo"/>
                <a:ea typeface="Apple SD Gothic Neo"/>
                <a:cs typeface="Apple SD Gothic Neo"/>
              </a:rPr>
              <a:t>Groq 설명</a:t>
            </a:r>
          </a:p>
        </p:txBody>
      </p:sp>
      <p:sp>
        <p:nvSpPr>
          <p:cNvPr id="9" name="text-57">
            <a:extLst xmlns:a="http://schemas.openxmlformats.org/drawingml/2006/main">
              <a:ext uri="{FF2B5EF4-FFF2-40B4-BE49-F238E27FC236}">
                <a16:creationId xmlns:a16="http://schemas.microsoft.com/office/drawing/2014/main" id="{A76ADC36-8F99-4595-92C9-0F7687AD5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24100"/>
            <a:ext cx="49530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rPr>
              <a:t>수량·소수점·주소·방향 계산</a:t>
            </a:r>
          </a:p>
          <a:p xmlns:a="http://schemas.openxmlformats.org/drawingml/2006/main">
            <a:pPr>
              <a:defRPr sz="2100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rPr>
              <a:t>승인과 전송 분리</a:t>
            </a:r>
          </a:p>
          <a:p xmlns:a="http://schemas.openxmlformats.org/drawingml/2006/main">
            <a:pPr>
              <a:defRPr sz="2100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rPr>
              <a:t>실행 상태·수수료 추출</a:t>
            </a:r>
          </a:p>
          <a:p xmlns:a="http://schemas.openxmlformats.org/drawingml/2006/main">
            <a:pPr>
              <a:defRPr sz="2100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rPr>
              <a:t>원본 필드·로그 근거 보존</a:t>
            </a:r>
          </a:p>
        </p:txBody>
      </p:sp>
      <p:sp>
        <p:nvSpPr>
          <p:cNvPr id="10" name="text-58">
            <a:extLst xmlns:a="http://schemas.openxmlformats.org/drawingml/2006/main">
              <a:ext uri="{FF2B5EF4-FFF2-40B4-BE49-F238E27FC236}">
                <a16:creationId xmlns:a16="http://schemas.microsoft.com/office/drawing/2014/main" id="{8875DA19-AA16-4EC2-9F0A-692B51DE6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24100"/>
            <a:ext cx="485775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rPr>
              <a:t>safeFacts 기반 짧은 한국어 설명</a:t>
            </a:r>
          </a:p>
          <a:p xmlns:a="http://schemas.openxmlformats.org/drawingml/2006/main">
            <a:pPr>
              <a:defRPr sz="2100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rPr>
              <a:t>전송·승인·실패 용어 풀이</a:t>
            </a:r>
          </a:p>
          <a:p xmlns:a="http://schemas.openxmlformats.org/drawingml/2006/main">
            <a:pPr>
              <a:defRPr sz="2100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rPr>
              <a:t>숫자·주소·가격·안전성 판단 추가 금지</a:t>
            </a:r>
          </a:p>
          <a:p xmlns:a="http://schemas.openxmlformats.org/drawingml/2006/main">
            <a:pPr>
              <a:defRPr sz="2100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rPr>
              <a:t>guard 실패 시 규칙 기반 설명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447E67-E12A-4812-B3C0-584F0C4E4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00550"/>
            <a:ext cx="1095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6E0EC"/>
            </a:solidFill>
          </a:ln>
        </p:spPr>
      </p:sp>
      <p:sp>
        <p:nvSpPr>
          <p:cNvPr id="12" name="text-59">
            <a:extLst xmlns:a="http://schemas.openxmlformats.org/drawingml/2006/main">
              <a:ext uri="{FF2B5EF4-FFF2-40B4-BE49-F238E27FC236}">
                <a16:creationId xmlns:a16="http://schemas.microsoft.com/office/drawing/2014/main" id="{7FCC7861-471F-41F5-A36F-55A9BD329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95825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검증 상태</a:t>
            </a:r>
          </a:p>
        </p:txBody>
      </p:sp>
      <p:sp>
        <p:nvSpPr>
          <p:cNvPr id="13" name="text-60">
            <a:extLst xmlns:a="http://schemas.openxmlformats.org/drawingml/2006/main">
              <a:ext uri="{FF2B5EF4-FFF2-40B4-BE49-F238E27FC236}">
                <a16:creationId xmlns:a16="http://schemas.microsoft.com/office/drawing/2014/main" id="{65D2AD1E-9626-4DAA-B82E-3DE7A80C8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06125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mock 성공, HTTP 오류, timeout, 잘못된 JSON, output guard 실패의 fallback을 app 26/26 검사로 확인했습니다.</a:t>
            </a:r>
          </a:p>
          <a:p xmlns:a="http://schemas.openxmlformats.org/drawingml/2006/main">
            <a:pPr>
              <a:defRPr sz="1725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openai/gpt-oss-20b 실제 Groq 호출에서도 AI 모드와 output guard 통과를 확인했습니다.</a:t>
            </a:r>
          </a:p>
        </p:txBody>
      </p:sp>
    </p:spTree>
    <p:extLst>
      <p:ext uri="{BB962C8B-B14F-4D97-AF65-F5344CB8AC3E}">
        <p14:creationId xmlns:p14="http://schemas.microsoft.com/office/powerpoint/2010/main" val="128055700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-61">
            <a:extLst xmlns:a="http://schemas.openxmlformats.org/drawingml/2006/main">
              <a:ext uri="{FF2B5EF4-FFF2-40B4-BE49-F238E27FC236}">
                <a16:creationId xmlns:a16="http://schemas.microsoft.com/office/drawing/2014/main" id="{D48A1FB8-2AFE-4290-ACCE-57797860D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1000"/>
            <a:ext cx="1095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첫 목표는 사용자가 거래를 정확히 설명하게 만드는 것입니다</a:t>
            </a:r>
          </a:p>
        </p:txBody>
      </p:sp>
      <p:sp>
        <p:nvSpPr>
          <p:cNvPr id="2" name="text-62">
            <a:extLst xmlns:a="http://schemas.openxmlformats.org/drawingml/2006/main">
              <a:ext uri="{FF2B5EF4-FFF2-40B4-BE49-F238E27FC236}">
                <a16:creationId xmlns:a16="http://schemas.microsoft.com/office/drawing/2014/main" id="{AD176BB0-727C-4B4F-9BD9-7B718A7BE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사용자 검증 계획입니다. 아직 모집하거나 측정하지 않았습니다.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3B496A-BDAC-45EC-A0DA-280254160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95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6E0EC"/>
            </a:solidFill>
          </a:ln>
        </p:spPr>
      </p:sp>
      <p:sp>
        <p:nvSpPr>
          <p:cNvPr id="4" name="text-63">
            <a:extLst xmlns:a="http://schemas.openxmlformats.org/drawingml/2006/main">
              <a:ext uri="{FF2B5EF4-FFF2-40B4-BE49-F238E27FC236}">
                <a16:creationId xmlns:a16="http://schemas.microsoft.com/office/drawing/2014/main" id="{6693D1C8-422C-45E6-B3D7-7150F9FAE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ChainLens  체인렌즈</a:t>
            </a:r>
          </a:p>
        </p:txBody>
      </p:sp>
      <p:sp>
        <p:nvSpPr>
          <p:cNvPr id="5" name="text-64">
            <a:extLst xmlns:a="http://schemas.openxmlformats.org/drawingml/2006/main">
              <a:ext uri="{FF2B5EF4-FFF2-40B4-BE49-F238E27FC236}">
                <a16:creationId xmlns:a16="http://schemas.microsoft.com/office/drawing/2014/main" id="{DC9C2F3D-D0F8-456C-A085-1F2C3ABCC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08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609600" y="1666875"/>
          <a:ext xmlns:a="http://schemas.openxmlformats.org/drawingml/2006/main" cx="10953750" cy="27241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4429125"/>
                <a:gridCol w="4238625"/>
              </a:tblGrid>
              <a:tr h="68103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검증 대상</a:t>
                      </a:r>
                    </a:p>
                  </a:txBody>
                  <a:tcPr marL="142875" marR="142875" marT="104775" marB="95250" anchor="ctr">
                    <a:solidFill>
                      <a:srgbClr val="0C274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검증 방법</a:t>
                      </a:r>
                    </a:p>
                  </a:txBody>
                  <a:tcPr marL="142875" marR="142875" marT="104775" marB="95250" anchor="ctr">
                    <a:solidFill>
                      <a:srgbClr val="0C274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판단에 사용할 관측값</a:t>
                      </a:r>
                    </a:p>
                  </a:txBody>
                  <a:tcPr marL="142875" marR="142875" marT="104775" marB="95250" anchor="ctr">
                    <a:solidFill>
                      <a:srgbClr val="0C274B"/>
                    </a:solidFill>
                  </a:tcPr>
                </a:tc>
              </a:tr>
              <a:tr h="68103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초보자 이해도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탐색기 단독과 ChainLens 조건 비교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전송·승인·실패 구분 정답률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</a:tr>
              <a:tr h="68103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근거 확인</a:t>
                      </a:r>
                    </a:p>
                  </a:txBody>
                  <a:tcPr marL="142875" marR="142875" marT="104775" marB="95250" anchor="ctr">
                    <a:solidFill>
                      <a:srgbClr val="F7F9FC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원본 필드·로그를 찾는 과제</a:t>
                      </a:r>
                    </a:p>
                  </a:txBody>
                  <a:tcPr marL="142875" marR="142875" marT="104775" marB="95250" anchor="ctr">
                    <a:solidFill>
                      <a:srgbClr val="F7F9FC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답변 시간, 근거 찾기 성공률</a:t>
                      </a:r>
                    </a:p>
                  </a:txBody>
                  <a:tcPr marL="142875" marR="142875" marT="104775" marB="95250" anchor="ctr">
                    <a:solidFill>
                      <a:srgbClr val="F7F9FC"/>
                    </a:solidFill>
                  </a:tcPr>
                </a:tc>
              </a:tr>
              <a:tr h="68103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반복 사용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교육·고객지원 운영자 인터뷰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도입 조건, 반복 사용 의향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-65">
            <a:extLst xmlns:a="http://schemas.openxmlformats.org/drawingml/2006/main">
              <a:ext uri="{FF2B5EF4-FFF2-40B4-BE49-F238E27FC236}">
                <a16:creationId xmlns:a16="http://schemas.microsoft.com/office/drawing/2014/main" id="{1E1C49F2-6814-4ED1-986D-6AB21F406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190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463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463DF"/>
                </a:solidFill>
                <a:latin typeface="Apple SD Gothic Neo"/>
                <a:ea typeface="Apple SD Gothic Neo"/>
                <a:cs typeface="Apple SD Gothic Neo"/>
              </a:rPr>
              <a:t>가설</a:t>
            </a:r>
          </a:p>
        </p:txBody>
      </p:sp>
      <p:sp>
        <p:nvSpPr>
          <p:cNvPr id="8" name="text-66">
            <a:extLst xmlns:a="http://schemas.openxmlformats.org/drawingml/2006/main">
              <a:ext uri="{FF2B5EF4-FFF2-40B4-BE49-F238E27FC236}">
                <a16:creationId xmlns:a16="http://schemas.microsoft.com/office/drawing/2014/main" id="{9073D752-EE4C-4116-9FB0-6118BDAC9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57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입문자 8–12명 비교에서 정답률 20%p 개선 또는 답변 시간 30% 감소를 목표로 둡니다.</a:t>
            </a:r>
          </a:p>
        </p:txBody>
      </p:sp>
      <p:sp>
        <p:nvSpPr>
          <p:cNvPr id="9" name="text-67">
            <a:extLst xmlns:a="http://schemas.openxmlformats.org/drawingml/2006/main">
              <a:ext uri="{FF2B5EF4-FFF2-40B4-BE49-F238E27FC236}">
                <a16:creationId xmlns:a16="http://schemas.microsoft.com/office/drawing/2014/main" id="{F1F5F033-F427-47AA-A674-E8DE23EFA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86450"/>
            <a:ext cx="10572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모집 수와 개선율은 계획입니다. 현재 사용자 수, 성과, 매출이 아닙니다.</a:t>
            </a:r>
          </a:p>
        </p:txBody>
      </p:sp>
    </p:spTree>
    <p:extLst>
      <p:ext uri="{BB962C8B-B14F-4D97-AF65-F5344CB8AC3E}">
        <p14:creationId xmlns:p14="http://schemas.microsoft.com/office/powerpoint/2010/main" val="56332639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-68">
            <a:extLst xmlns:a="http://schemas.openxmlformats.org/drawingml/2006/main">
              <a:ext uri="{FF2B5EF4-FFF2-40B4-BE49-F238E27FC236}">
                <a16:creationId xmlns:a16="http://schemas.microsoft.com/office/drawing/2014/main" id="{446DD717-5438-43D3-A583-3E6520FC0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1000"/>
            <a:ext cx="1095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웹 MVP에서 DeepL형 확장 경험까지 구현했습니다</a:t>
            </a:r>
          </a:p>
        </p:txBody>
      </p:sp>
      <p:sp>
        <p:nvSpPr>
          <p:cNvPr id="2" name="text-69">
            <a:extLst xmlns:a="http://schemas.openxmlformats.org/drawingml/2006/main">
              <a:ext uri="{FF2B5EF4-FFF2-40B4-BE49-F238E27FC236}">
                <a16:creationId xmlns:a16="http://schemas.microsoft.com/office/drawing/2014/main" id="{FD717DD2-6798-483F-AB9F-3B7CF3554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현재 구현 완료, 다음 검증, 사용자 실험, 공개 준비를 구분합니다.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CDCC7E-9C12-49F8-8C5E-170A8BA9E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95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6E0EC"/>
            </a:solidFill>
          </a:ln>
        </p:spPr>
      </p:sp>
      <p:sp>
        <p:nvSpPr>
          <p:cNvPr id="4" name="text-70">
            <a:extLst xmlns:a="http://schemas.openxmlformats.org/drawingml/2006/main">
              <a:ext uri="{FF2B5EF4-FFF2-40B4-BE49-F238E27FC236}">
                <a16:creationId xmlns:a16="http://schemas.microsoft.com/office/drawing/2014/main" id="{3BDD2F1C-7169-481D-B9B2-2EBCA9F4D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ChainLens  체인렌즈</a:t>
            </a:r>
          </a:p>
        </p:txBody>
      </p:sp>
      <p:sp>
        <p:nvSpPr>
          <p:cNvPr id="5" name="text-71">
            <a:extLst xmlns:a="http://schemas.openxmlformats.org/drawingml/2006/main">
              <a:ext uri="{FF2B5EF4-FFF2-40B4-BE49-F238E27FC236}">
                <a16:creationId xmlns:a16="http://schemas.microsoft.com/office/drawing/2014/main" id="{D90BEED2-DE5F-4F76-B2D8-E9E24AC67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09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609600" y="1657350"/>
          <a:ext xmlns:a="http://schemas.openxmlformats.org/drawingml/2006/main" cx="10953750" cy="30289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57450"/>
                <a:gridCol w="8496300"/>
              </a:tblGrid>
              <a:tr h="60579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시점</a:t>
                      </a:r>
                    </a:p>
                  </a:txBody>
                  <a:tcPr marL="142875" marR="142875" marT="104775" marB="95250" anchor="ctr">
                    <a:solidFill>
                      <a:srgbClr val="0C274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개발 목표·완료 기준</a:t>
                      </a:r>
                    </a:p>
                  </a:txBody>
                  <a:tcPr marL="142875" marR="142875" marT="104775" marB="95250" anchor="ctr">
                    <a:solidFill>
                      <a:srgbClr val="0C274B"/>
                    </a:solidFill>
                  </a:tcPr>
                </a:tc>
              </a:tr>
              <a:tr h="60579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현재 구현 완료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웹 MVP, Groq live, MV3 확장, ZIP, app 26/26 · extension 14/14, Chrome CUA E2E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다음 기술 검증</a:t>
                      </a:r>
                    </a:p>
                  </a:txBody>
                  <a:tcPr marL="142875" marR="142875" marT="104775" marB="95250" anchor="ctr">
                    <a:solidFill>
                      <a:srgbClr val="F7F9FC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키 있는 Groq 장애의 실제 Chrome UI, 필요 시 정확한 확장 화면 캡처</a:t>
                      </a:r>
                    </a:p>
                  </a:txBody>
                  <a:tcPr marL="142875" marR="142875" marT="104775" marB="95250" anchor="ctr">
                    <a:solidFill>
                      <a:srgbClr val="F7F9FC"/>
                    </a:solidFill>
                  </a:tcPr>
                </a:tc>
              </a:tr>
              <a:tr h="60579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사용자 검증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초보자 이해도 비교와 원본 근거 찾기 성공률 측정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공개 전</a:t>
                      </a:r>
                    </a:p>
                  </a:txBody>
                  <a:tcPr marL="142875" marR="142875" marT="104775" marB="95250" anchor="ctr">
                    <a:solidFill>
                      <a:srgbClr val="F7F9FC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공개 backend, 최신 자료, 영상·신청 여부를 별도 확인</a:t>
                      </a:r>
                    </a:p>
                  </a:txBody>
                  <a:tcPr marL="142875" marR="142875" marT="104775" marB="95250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7" name="text-72">
            <a:extLst xmlns:a="http://schemas.openxmlformats.org/drawingml/2006/main">
              <a:ext uri="{FF2B5EF4-FFF2-40B4-BE49-F238E27FC236}">
                <a16:creationId xmlns:a16="http://schemas.microsoft.com/office/drawing/2014/main" id="{328B0225-DFFD-4F76-95C6-F97DBCF6B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2920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463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463DF"/>
                </a:solidFill>
                <a:latin typeface="Apple SD Gothic Neo"/>
                <a:ea typeface="Apple SD Gothic Neo"/>
                <a:cs typeface="Apple SD Gothic Neo"/>
              </a:rPr>
              <a:t>2인 역할</a:t>
            </a:r>
          </a:p>
        </p:txBody>
      </p:sp>
      <p:sp>
        <p:nvSpPr>
          <p:cNvPr id="8" name="text-73">
            <a:extLst xmlns:a="http://schemas.openxmlformats.org/drawingml/2006/main">
              <a:ext uri="{FF2B5EF4-FFF2-40B4-BE49-F238E27FC236}">
                <a16:creationId xmlns:a16="http://schemas.microsoft.com/office/drawing/2014/main" id="{1B5EAC3B-9F42-4C79-B64E-3D58280B3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578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rPr>
              <a:t>A · 데이터·정확성  Ethereum JSON-RPC, Node.js, BigInt, 이벤트 디코딩·검증</a:t>
            </a:r>
          </a:p>
        </p:txBody>
      </p:sp>
      <p:sp>
        <p:nvSpPr>
          <p:cNvPr id="9" name="text-74">
            <a:extLst xmlns:a="http://schemas.openxmlformats.org/drawingml/2006/main">
              <a:ext uri="{FF2B5EF4-FFF2-40B4-BE49-F238E27FC236}">
                <a16:creationId xmlns:a16="http://schemas.microsoft.com/office/drawing/2014/main" id="{6902AECB-391F-465E-9334-2F2E0CEE9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72B45"/>
                </a:solidFill>
                <a:latin typeface="Apple SD Gothic Neo"/>
                <a:ea typeface="Apple SD Gothic Neo"/>
                <a:cs typeface="Apple SD Gothic Neo"/>
              </a:rPr>
              <a:t>B · 서비스·AI·UX  Chrome MV3, HTML/CSS/JavaScript, Groq 연동, 사용자 실험·시연</a:t>
            </a:r>
          </a:p>
        </p:txBody>
      </p:sp>
    </p:spTree>
    <p:extLst>
      <p:ext uri="{BB962C8B-B14F-4D97-AF65-F5344CB8AC3E}">
        <p14:creationId xmlns:p14="http://schemas.microsoft.com/office/powerpoint/2010/main" val="200936657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-75">
            <a:extLst xmlns:a="http://schemas.openxmlformats.org/drawingml/2006/main">
              <a:ext uri="{FF2B5EF4-FFF2-40B4-BE49-F238E27FC236}">
                <a16:creationId xmlns:a16="http://schemas.microsoft.com/office/drawing/2014/main" id="{C998D3D7-F833-4503-B8AC-6C954C942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1000"/>
            <a:ext cx="1095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C274B"/>
                </a:solidFill>
                <a:latin typeface="Apple SD Gothic Neo"/>
                <a:ea typeface="Apple SD Gothic Neo"/>
                <a:cs typeface="Apple SD Gothic Neo"/>
              </a:rPr>
              <a:t>구현·검증·남은 검증을 구분해 제출합니다</a:t>
            </a:r>
          </a:p>
        </p:txBody>
      </p:sp>
      <p:sp>
        <p:nvSpPr>
          <p:cNvPr id="2" name="text-76">
            <a:extLst xmlns:a="http://schemas.openxmlformats.org/drawingml/2006/main">
              <a:ext uri="{FF2B5EF4-FFF2-40B4-BE49-F238E27FC236}">
                <a16:creationId xmlns:a16="http://schemas.microsoft.com/office/drawing/2014/main" id="{4E511964-7463-41C6-A3D8-2F270247E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완료된 검증 근거와 아직 확인하지 못한 항목을 함께 제시합니다.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74261B-73F2-490B-9805-F6CE6A188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95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6E0EC"/>
            </a:solidFill>
          </a:ln>
        </p:spPr>
      </p:sp>
      <p:sp>
        <p:nvSpPr>
          <p:cNvPr id="4" name="text-77">
            <a:extLst xmlns:a="http://schemas.openxmlformats.org/drawingml/2006/main">
              <a:ext uri="{FF2B5EF4-FFF2-40B4-BE49-F238E27FC236}">
                <a16:creationId xmlns:a16="http://schemas.microsoft.com/office/drawing/2014/main" id="{8A6E9B18-6178-4741-995F-7C7EF8181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ChainLens  체인렌즈</a:t>
            </a:r>
          </a:p>
        </p:txBody>
      </p:sp>
      <p:sp>
        <p:nvSpPr>
          <p:cNvPr id="5" name="text-78">
            <a:extLst xmlns:a="http://schemas.openxmlformats.org/drawingml/2006/main">
              <a:ext uri="{FF2B5EF4-FFF2-40B4-BE49-F238E27FC236}">
                <a16:creationId xmlns:a16="http://schemas.microsoft.com/office/drawing/2014/main" id="{B040BDDE-2290-444C-B03F-1749CA20B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23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10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53750" cy="30670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7524750"/>
              </a:tblGrid>
              <a:tr h="4381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 항목</a:t>
                      </a:r>
                    </a:p>
                  </a:txBody>
                  <a:tcPr marL="142875" marR="142875" marT="104775" marB="95250" anchor="ctr">
                    <a:solidFill>
                      <a:srgbClr val="0C274B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현재 근거</a:t>
                      </a:r>
                    </a:p>
                  </a:txBody>
                  <a:tcPr marL="142875" marR="142875" marT="104775" marB="95250" anchor="ctr">
                    <a:solidFill>
                      <a:srgbClr val="0C274B"/>
                    </a:solidFill>
                  </a:tcPr>
                </a:tc>
              </a:tr>
              <a:tr h="4381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웹 앱 해석·Groq fallback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app 26/26 테스트, 기존 실제 RPC 4건 기록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확장 구조·권한·보안 경계</a:t>
                      </a:r>
                    </a:p>
                  </a:txBody>
                  <a:tcPr marL="142875" marR="142875" marT="104775" marB="95250" anchor="ctr">
                    <a:solidFill>
                      <a:srgbClr val="F7F9FC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extension 14/14, 문법·ZIP 검사</a:t>
                      </a:r>
                    </a:p>
                  </a:txBody>
                  <a:tcPr marL="142875" marR="142875" marT="104775" marB="95250" anchor="ctr">
                    <a:solidFill>
                      <a:srgbClr val="F7F9FC"/>
                    </a:solidFill>
                  </a:tcPr>
                </a:tc>
              </a:tr>
              <a:tr h="4381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확장 배포물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unpacked 확장 + 검증 ZIP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실제 Chrome E2E</a:t>
                      </a:r>
                    </a:p>
                  </a:txBody>
                  <a:tcPr marL="142875" marR="142875" marT="104775" marB="95250" anchor="ctr">
                    <a:solidFill>
                      <a:srgbClr val="F7F9FC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우클릭·Side Panel, Etherscan·Blockscout 자동 인식 CUA 확인</a:t>
                      </a:r>
                    </a:p>
                  </a:txBody>
                  <a:tcPr marL="142875" marR="142875" marT="104775" marB="95250" anchor="ctr">
                    <a:solidFill>
                      <a:srgbClr val="F7F9FC"/>
                    </a:solidFill>
                  </a:tcPr>
                </a:tc>
              </a:tr>
              <a:tr h="4381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Groq live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openai/gpt-oss-20b AI 모드·guard 통과</a:t>
                      </a:r>
                    </a:p>
                  </a:txBody>
                  <a:tcPr marL="142875" marR="142875" marT="104775" marB="95250"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공개 링크·영상·신청</a:t>
                      </a:r>
                    </a:p>
                  </a:txBody>
                  <a:tcPr marL="142875" marR="142875" marT="104775" marB="95250" anchor="ctr">
                    <a:solidFill>
                      <a:srgbClr val="F7F9FC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172B45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미실행</a:t>
                      </a:r>
                    </a:p>
                  </a:txBody>
                  <a:tcPr marL="142875" marR="142875" marT="104775" marB="95250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7" name="text-79">
            <a:extLst xmlns:a="http://schemas.openxmlformats.org/drawingml/2006/main">
              <a:ext uri="{FF2B5EF4-FFF2-40B4-BE49-F238E27FC236}">
                <a16:creationId xmlns:a16="http://schemas.microsoft.com/office/drawing/2014/main" id="{D62A1383-C51D-48C2-9046-8DABF9F96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29200"/>
            <a:ext cx="228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463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463DF"/>
                </a:solidFill>
                <a:latin typeface="Apple SD Gothic Neo"/>
                <a:ea typeface="Apple SD Gothic Neo"/>
                <a:cs typeface="Apple SD Gothic Neo"/>
              </a:rPr>
              <a:t>레퍼런스</a:t>
            </a:r>
          </a:p>
        </p:txBody>
      </p:sp>
      <p:sp>
        <p:nvSpPr>
          <p:cNvPr id="8" name="text-80">
            <a:extLst xmlns:a="http://schemas.openxmlformats.org/drawingml/2006/main">
              <a:ext uri="{FF2B5EF4-FFF2-40B4-BE49-F238E27FC236}">
                <a16:creationId xmlns:a16="http://schemas.microsoft.com/office/drawing/2014/main" id="{4B1A5F9F-71C8-4278-8DAA-054F7363A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85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BLOCK AI 26 공식 안내 · Chrome contextMenus / activeTab / Side Panel · Groq Models</a:t>
            </a:r>
          </a:p>
          <a:p xmlns:a="http://schemas.openxmlformats.org/drawingml/2006/main">
            <a:pPr>
              <a:defRPr sz="15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Etherscan Experimental Feature · Blockscout Interpreter API · Noves Translate Introduction</a:t>
            </a:r>
          </a:p>
        </p:txBody>
      </p:sp>
      <p:sp>
        <p:nvSpPr>
          <p:cNvPr id="9" name="text-81">
            <a:extLst xmlns:a="http://schemas.openxmlformats.org/drawingml/2006/main">
              <a:ext uri="{FF2B5EF4-FFF2-40B4-BE49-F238E27FC236}">
                <a16:creationId xmlns:a16="http://schemas.microsoft.com/office/drawing/2014/main" id="{1882BA75-6A8E-4036-BDAE-52244ACA2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0"/>
            <a:ext cx="1085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B6B80"/>
                </a:solidFill>
                <a:latin typeface="Apple SD Gothic Neo"/>
                <a:ea typeface="Apple SD Gothic Neo"/>
                <a:cs typeface="Apple SD Gothic Neo"/>
              </a:rPr>
              <a:t>정적·단위 검사와 CUA E2E는 공개 배포, Web Store 승인, 전체 거래 정확도를 뜻하지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94491962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2026-09-12T12:01:50.0160000Z</dcterms:created>
  <dcterms:modified xsi:type="dcterms:W3CDTF">2026-09-12T12:01:50.0160000Z</dcterms:modified>
</coreProperties>
</file>