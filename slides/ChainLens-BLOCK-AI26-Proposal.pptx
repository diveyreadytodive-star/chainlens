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7627a7cd354c69" /><Relationship Type="http://schemas.openxmlformats.org/officeDocument/2006/relationships/extended-properties" Target="/docProps/app.xml" Id="R2d526334f8484407" /><Relationship Type="http://schemas.openxmlformats.org/officeDocument/2006/relationships/officeDocument" Target="/ppt/presentation.xml" Id="R72e2644bdc2546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52bcfea0f5438a"/>
  </p:sldMasterIdLst>
  <p:notesMasterIdLst>
    <p:notesMasterId xmlns:r="http://schemas.openxmlformats.org/officeDocument/2006/relationships" r:id="Rd0a79a75b051492e"/>
  </p:notesMasterIdLst>
  <p:sldIdLst>
    <p:sldId xmlns:r="http://schemas.openxmlformats.org/officeDocument/2006/relationships" id="256" r:id="Ra8dfc14401b74f60"/>
    <p:sldId xmlns:r="http://schemas.openxmlformats.org/officeDocument/2006/relationships" id="257" r:id="R4aaec17adbda4342"/>
    <p:sldId xmlns:r="http://schemas.openxmlformats.org/officeDocument/2006/relationships" id="258" r:id="R5a1429863acc4f21"/>
    <p:sldId xmlns:r="http://schemas.openxmlformats.org/officeDocument/2006/relationships" id="259" r:id="R55d44952a32a4b9e"/>
    <p:sldId xmlns:r="http://schemas.openxmlformats.org/officeDocument/2006/relationships" id="260" r:id="R57908d03d7c64933"/>
    <p:sldId xmlns:r="http://schemas.openxmlformats.org/officeDocument/2006/relationships" id="261" r:id="R140db4e39d914f69"/>
    <p:sldId xmlns:r="http://schemas.openxmlformats.org/officeDocument/2006/relationships" id="262" r:id="R524766d6964644cf"/>
    <p:sldId xmlns:r="http://schemas.openxmlformats.org/officeDocument/2006/relationships" id="263" r:id="Re8f51293a4604cab"/>
    <p:sldId xmlns:r="http://schemas.openxmlformats.org/officeDocument/2006/relationships" id="264" r:id="R467c19f22fd44ff5"/>
    <p:sldId xmlns:r="http://schemas.openxmlformats.org/officeDocument/2006/relationships" id="265" r:id="R70ff161404954e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b41493b5ae4b04" /><Relationship Type="http://schemas.openxmlformats.org/officeDocument/2006/relationships/slideMaster" Target="/ppt/slideMasters/slideMaster1.xml" Id="R4852bcfea0f5438a" /><Relationship Type="http://schemas.openxmlformats.org/officeDocument/2006/relationships/notesMaster" Target="/ppt/notesMasters/notesMaster1.xml" Id="Rd0a79a75b051492e" /><Relationship Type="http://schemas.openxmlformats.org/officeDocument/2006/relationships/presProps" Target="/ppt/presProps.xml" Id="R2ed6caeb7e7b43d0" /><Relationship Type="http://schemas.openxmlformats.org/officeDocument/2006/relationships/tableStyles" Target="/ppt/tableStyles.xml" Id="R060367f3021d4ebe" /><Relationship Type="http://schemas.openxmlformats.org/officeDocument/2006/relationships/slide" Target="/ppt/slides/slide1.xml" Id="Ra8dfc14401b74f60" /><Relationship Type="http://schemas.openxmlformats.org/officeDocument/2006/relationships/slide" Target="/ppt/slides/slide2.xml" Id="R4aaec17adbda4342" /><Relationship Type="http://schemas.openxmlformats.org/officeDocument/2006/relationships/slide" Target="/ppt/slides/slide3.xml" Id="R5a1429863acc4f21" /><Relationship Type="http://schemas.openxmlformats.org/officeDocument/2006/relationships/slide" Target="/ppt/slides/slide4.xml" Id="R55d44952a32a4b9e" /><Relationship Type="http://schemas.openxmlformats.org/officeDocument/2006/relationships/slide" Target="/ppt/slides/slide5.xml" Id="R57908d03d7c64933" /><Relationship Type="http://schemas.openxmlformats.org/officeDocument/2006/relationships/slide" Target="/ppt/slides/slide6.xml" Id="R140db4e39d914f69" /><Relationship Type="http://schemas.openxmlformats.org/officeDocument/2006/relationships/slide" Target="/ppt/slides/slide7.xml" Id="R524766d6964644cf" /><Relationship Type="http://schemas.openxmlformats.org/officeDocument/2006/relationships/slide" Target="/ppt/slides/slide8.xml" Id="Re8f51293a4604cab" /><Relationship Type="http://schemas.openxmlformats.org/officeDocument/2006/relationships/slide" Target="/ppt/slides/slide9.xml" Id="R467c19f22fd44ff5" /><Relationship Type="http://schemas.openxmlformats.org/officeDocument/2006/relationships/slide" Target="/ppt/slides/slide10.xml" Id="R70ff161404954e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76ae8481064d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8f2370ed8e4a97" /><Relationship Type="http://schemas.openxmlformats.org/officeDocument/2006/relationships/notesMaster" Target="/ppt/notesMasters/notesMaster1.xml" Id="R67e4659b7d1240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e61a63d6cd4d25" /><Relationship Type="http://schemas.openxmlformats.org/officeDocument/2006/relationships/notesMaster" Target="/ppt/notesMasters/notesMaster1.xml" Id="R56f869e9462444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d4ef4c73de40c2" /><Relationship Type="http://schemas.openxmlformats.org/officeDocument/2006/relationships/notesMaster" Target="/ppt/notesMasters/notesMaster1.xml" Id="R4fd7263911a148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4591a18a2247ef" /><Relationship Type="http://schemas.openxmlformats.org/officeDocument/2006/relationships/notesMaster" Target="/ppt/notesMasters/notesMaster1.xml" Id="R1ca961efaa6841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e538dadc784f34" /><Relationship Type="http://schemas.openxmlformats.org/officeDocument/2006/relationships/notesMaster" Target="/ppt/notesMasters/notesMaster1.xml" Id="R5fad57b574ba43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aef22f97674833" /><Relationship Type="http://schemas.openxmlformats.org/officeDocument/2006/relationships/notesMaster" Target="/ppt/notesMasters/notesMaster1.xml" Id="R6fd8404b415245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2df07f07774f00" /><Relationship Type="http://schemas.openxmlformats.org/officeDocument/2006/relationships/notesMaster" Target="/ppt/notesMasters/notesMaster1.xml" Id="R34914eded9b745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ebd37fe3b0462b" /><Relationship Type="http://schemas.openxmlformats.org/officeDocument/2006/relationships/notesMaster" Target="/ppt/notesMasters/notesMaster1.xml" Id="Rbbd6a25228a541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b19a98d64d4615" /><Relationship Type="http://schemas.openxmlformats.org/officeDocument/2006/relationships/notesMaster" Target="/ppt/notesMasters/notesMaster1.xml" Id="Ra33f09448dfe45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402d2136334cfa" /><Relationship Type="http://schemas.openxmlformats.org/officeDocument/2006/relationships/notesMaster" Target="/ppt/notesMasters/notesMaster1.xml" Id="R27022b1fd36d4d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ChainLens는 이미 발생한 Ethereum 거래 기록을 읽는다. 거래를 실행하거나 안전성을 판정하지 않는다. Chrome MV3 확장, 서버, Groq 전용 설명 경로는 구현되어 있으며 실제 Chrome unpacked E2E를 확인했다.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대표 이용 상황을 바탕으로 한 문제 가설이다. 사용자 인터뷰 결과나 사용 비율로 제시하지 않는다. Approval은 spender에 당시 사용 한도를 설정하는 행위로 Transfer와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공식 자료: Etherscan Experimental Feature, Blockscout Interpreter API, Noves Translate Introduction. 한국어 영수증, 원본 근거 연결, 확인 범위 표시는 사용자 검증이 필요한 가설이다. 최초성, 독점성, 성능 우위를 주장하지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Chrome unpacked E2E는 완료했지만 OS 전면창 불일치로 보존된 확장 PNG는 없다. 왼쪽은 기존 웹 MVP 화면이며 확장 화면으로 제시하지 않는다. 실제 관측은 evidence/extension-chrome-e2e.md를 따른다.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사례와 조회 시점은 verification.md와 evidence/rpc-examples.json에 기록한다. 성공 receipt는 사용자 목적 달성을 보장하지 않는다. Approval 이벤트는 당시 설정량이며 현재 allowance를 보장하지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Chrome MV3의 context menu, Shadow DOM 빠른 영수증, Side Panel은 구현되어 있다. API는 safeFacts만 Groq에 전달한다. openai/gpt-oss-20b의 Groq live와 mock, fallback을 검증했다. API 키는 서버 프로세스 환경변수에만 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AI에는 status, category, 전송·승인 존재 여부, 지원 밖 로그, finality만 전달한다. 숫자·주소·금지 표현·길이를 guard한다. guard는 모든 의미 오류를 증명하지 않는다. 실제 Groq live에서 AI 모드와 guard 통과를 확인했다.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검증 계획이며 아직 모집·측정 전이다. 정답률 20%p 개선 또는 답변 시간 30% 감소는 목표 가설이다. 초기 고객 후보는 지갑·교육 서비스의 온보딩 담당자이며 수익 후보는 B2B 해설 위젯/API다.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Chrome MV3 확장과 ZIP은 현재 구현 완료 항목이다. Chrome Web Store 공개, 공개 backend, 영상, 신청은 수행하지 않았다. 역할 A/B는 제안 분담이며 개인별 경험은 제출 전에 사실 확인이 필요하다.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자세한 근거는 verification.md와 evidence/extension-chrome-e2e.md에 있다. screenshots/는 기존 웹 MVP 5장이고 확장 화면이 아니다. 새 extension PNG를 넣으려면 올바른 Chrome 전면창에서 캡처한 뒤 관측 기록과 대조해야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c81d3d33c541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6f2ca816864280" /><Relationship Type="http://schemas.openxmlformats.org/officeDocument/2006/relationships/slideLayout" Target="/ppt/slideLayouts/slideLayout1.xml" Id="R3b9c1532d55245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9c1532d55245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de008f72847d2" /><Relationship Type="http://schemas.openxmlformats.org/officeDocument/2006/relationships/notesSlide" Target="/ppt/notesSlides/notesSlide1.xml" Id="R3e88fb13294a4e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ea4af3c9b4816" /><Relationship Type="http://schemas.openxmlformats.org/officeDocument/2006/relationships/notesSlide" Target="/ppt/notesSlides/notesSlide2.xml" Id="Rbfc05e2dbccc45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f3d5505904697" /><Relationship Type="http://schemas.openxmlformats.org/officeDocument/2006/relationships/notesSlide" Target="/ppt/notesSlides/notesSlide3.xml" Id="Rbddca709c7624e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80b0594e94dd0" /><Relationship Type="http://schemas.openxmlformats.org/officeDocument/2006/relationships/image" Target="/ppt/media/image.png" Id="R0b13db88611045cd" /><Relationship Type="http://schemas.openxmlformats.org/officeDocument/2006/relationships/notesSlide" Target="/ppt/notesSlides/notesSlide4.xml" Id="Rc6c60e07f26d4f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f9e90f0984fb0" /><Relationship Type="http://schemas.openxmlformats.org/officeDocument/2006/relationships/notesSlide" Target="/ppt/notesSlides/notesSlide5.xml" Id="Rc8d2e986995943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646b019784359" /><Relationship Type="http://schemas.openxmlformats.org/officeDocument/2006/relationships/notesSlide" Target="/ppt/notesSlides/notesSlide6.xml" Id="Rbedd7618e69c4e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549a2c80547bb" /><Relationship Type="http://schemas.openxmlformats.org/officeDocument/2006/relationships/notesSlide" Target="/ppt/notesSlides/notesSlide7.xml" Id="Reb8a4c760fea4e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a6cd362cc4db9" /><Relationship Type="http://schemas.openxmlformats.org/officeDocument/2006/relationships/notesSlide" Target="/ppt/notesSlides/notesSlide8.xml" Id="R2e25af25fd9545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9951b8b824c6d" /><Relationship Type="http://schemas.openxmlformats.org/officeDocument/2006/relationships/notesSlide" Target="/ppt/notesSlides/notesSlide9.xml" Id="R36f231252c7f40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b5be500e1411e" /><Relationship Type="http://schemas.openxmlformats.org/officeDocument/2006/relationships/notesSlide" Target="/ppt/notesSlides/notesSlide10.xml" Id="Rf708d465551042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27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">
            <a:extLst xmlns:a="http://schemas.openxmlformats.org/drawingml/2006/main">
              <a:ext uri="{FF2B5EF4-FFF2-40B4-BE49-F238E27FC236}">
                <a16:creationId xmlns:a16="http://schemas.microsoft.com/office/drawing/2014/main" id="{32DB5454-8C08-46C8-8174-F4A74E9F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8D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B8D3FF"/>
                </a:solidFill>
                <a:latin typeface="Apple SD Gothic Neo"/>
                <a:ea typeface="Apple SD Gothic Neo"/>
                <a:cs typeface="Apple SD Gothic Neo"/>
              </a:rPr>
              <a:t>BLOCK AI 26  AI + 블록체인 융합서비스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8CBDE484-F928-4D30-ABCE-279FDD28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ChainLens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349D009F-83A8-4D81-BFB1-F43D4E47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0512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체인렌즈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832A51C8-7C7E-46B1-B930-A54CBE58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복잡한 거래 기록을</a:t>
            </a:r>
          </a:p>
          <a:p xmlns:a="http://schemas.openxmlformats.org/drawingml/2006/main">
            <a:pPr>
              <a:defRPr sz="27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근거가 연결된 한국어 영수증으로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6593E4B3-160B-4FC8-9BA9-4713E072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772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8D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B8D3FF"/>
                </a:solidFill>
                <a:latin typeface="Apple SD Gothic Neo"/>
                <a:ea typeface="Apple SD Gothic Neo"/>
                <a:cs typeface="Apple SD Gothic Neo"/>
              </a:rPr>
              <a:t>Chrome MV3 확장 · Ethereum 거래 해석 · Groq 전용 설명 경로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C88A71E1-6405-43CA-A778-31D351FF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1817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D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B8D3FF"/>
                </a:solidFill>
                <a:latin typeface="Apple SD Gothic Neo"/>
                <a:ea typeface="Apple SD Gothic Neo"/>
                <a:cs typeface="Apple SD Gothic Neo"/>
              </a:rPr>
              <a:t>2인 개발팀 · 2026-09-12</a:t>
            </a:r>
          </a:p>
        </p:txBody>
      </p:sp>
    </p:spTree>
    <p:extLst>
      <p:ext uri="{BB962C8B-B14F-4D97-AF65-F5344CB8AC3E}">
        <p14:creationId xmlns:p14="http://schemas.microsoft.com/office/powerpoint/2010/main" val="3008497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7">
            <a:extLst xmlns:a="http://schemas.openxmlformats.org/drawingml/2006/main">
              <a:ext uri="{FF2B5EF4-FFF2-40B4-BE49-F238E27FC236}">
                <a16:creationId xmlns:a16="http://schemas.microsoft.com/office/drawing/2014/main" id="{8B152826-AA40-4D46-A8DF-5418DED9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성공 표시만으로는 거래의 의미를 알기 어렵습니다</a:t>
            </a:r>
          </a:p>
        </p:txBody>
      </p:sp>
      <p:sp>
        <p:nvSpPr>
          <p:cNvPr id="2" name="text-8">
            <a:extLst xmlns:a="http://schemas.openxmlformats.org/drawingml/2006/main">
              <a:ext uri="{FF2B5EF4-FFF2-40B4-BE49-F238E27FC236}">
                <a16:creationId xmlns:a16="http://schemas.microsoft.com/office/drawing/2014/main" id="{5270BE6E-BA69-4A21-8D4A-5CFFD2AF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처음 토큰 서비스를 이용한 사용자가 탐색기 기록에서 마주하는 문제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BF050-0002-404D-8707-2CFBD25D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E0EC"/>
            </a:solidFill>
          </a:ln>
        </p:spPr>
      </p:sp>
      <p:sp>
        <p:nvSpPr>
          <p:cNvPr id="4" name="text-9">
            <a:extLst xmlns:a="http://schemas.openxmlformats.org/drawingml/2006/main">
              <a:ext uri="{FF2B5EF4-FFF2-40B4-BE49-F238E27FC236}">
                <a16:creationId xmlns:a16="http://schemas.microsoft.com/office/drawing/2014/main" id="{79BFB772-0D41-4F66-831A-CFE889AD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ChainLens  체인렌즈</a:t>
            </a:r>
          </a:p>
        </p:txBody>
      </p:sp>
      <p:sp>
        <p:nvSpPr>
          <p:cNvPr id="5" name="text-10">
            <a:extLst xmlns:a="http://schemas.openxmlformats.org/drawingml/2006/main">
              <a:ext uri="{FF2B5EF4-FFF2-40B4-BE49-F238E27FC236}">
                <a16:creationId xmlns:a16="http://schemas.microsoft.com/office/drawing/2014/main" id="{814B1265-14C8-4A13-871F-3E02D6A0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6" name="text-11">
            <a:extLst xmlns:a="http://schemas.openxmlformats.org/drawingml/2006/main">
              <a:ext uri="{FF2B5EF4-FFF2-40B4-BE49-F238E27FC236}">
                <a16:creationId xmlns:a16="http://schemas.microsoft.com/office/drawing/2014/main" id="{75007E33-366B-4A57-9ABE-6FE2AC05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096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“승인했는데,</a:t>
            </a:r>
          </a:p>
          <a:p xmlns:a="http://schemas.openxmlformats.org/drawingml/2006/main">
            <a:pPr>
              <a:defRPr sz="3450" b="1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토큰을 보낸 건가요?”</a:t>
            </a:r>
          </a:p>
        </p:txBody>
      </p:sp>
      <p:sp>
        <p:nvSpPr>
          <p:cNvPr id="7" name="text-12">
            <a:extLst xmlns:a="http://schemas.openxmlformats.org/drawingml/2006/main">
              <a:ext uri="{FF2B5EF4-FFF2-40B4-BE49-F238E27FC236}">
                <a16:creationId xmlns:a16="http://schemas.microsoft.com/office/drawing/2014/main" id="{FBB481DE-F240-47A3-8252-627AD988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rPr>
              <a:t>Success, 주소, 이벤트 로그는 보이지만</a:t>
            </a:r>
          </a:p>
          <a:p xmlns:a="http://schemas.openxmlformats.org/drawingml/2006/main">
            <a:pPr>
              <a:defRPr sz="2175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rPr>
              <a:t>전송과 사용 권한 설정은 바로 구분하기 어렵습니다.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7124700" y="1676400"/>
          <a:ext xmlns:a="http://schemas.openxmlformats.org/drawingml/2006/main" cx="443865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09800"/>
                <a:gridCol w="2228850"/>
              </a:tblGrid>
              <a:tr h="738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사용자가 알고 싶은 것</a:t>
                      </a:r>
                    </a:p>
                  </a:txBody>
                  <a:tcPr marL="142875" marR="142875" marT="104775" marB="95250" anchor="ctr">
                    <a:solidFill>
                      <a:srgbClr val="0C274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읽어야 하는 원본</a:t>
                      </a:r>
                    </a:p>
                  </a:txBody>
                  <a:tcPr marL="142875" marR="142875" marT="104775" marB="95250" anchor="ctr">
                    <a:solidFill>
                      <a:srgbClr val="0C274B"/>
                    </a:solidFill>
                  </a:tcPr>
                </a:tc>
              </a:tr>
              <a:tr h="738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어떤 자산이 어디로 이동했나?</a:t>
                      </a:r>
                    </a:p>
                  </a:txBody>
                  <a:tcPr marL="142875" marR="142875" marT="10477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transaction value, Transfer 이벤트</a:t>
                      </a:r>
                    </a:p>
                  </a:txBody>
                  <a:tcPr marL="142875" marR="142875" marT="104775" marB="9525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돈을 보냈나, 사용 권한을 줬나?</a:t>
                      </a:r>
                    </a:p>
                  </a:txBody>
                  <a:tcPr marL="142875" marR="142875" marT="104775" marB="95250" anchor="ctr">
                    <a:solidFill>
                      <a:srgbClr val="F7F9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Approval 이벤트</a:t>
                      </a:r>
                    </a:p>
                  </a:txBody>
                  <a:tcPr marL="142875" marR="142875" marT="104775" marB="95250" anchor="ctr">
                    <a:solidFill>
                      <a:srgbClr val="F7F9FC"/>
                    </a:solidFill>
                  </a:tcPr>
                </a:tc>
              </a:tr>
              <a:tr h="738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실행 결과와 수수료는 무엇인가?</a:t>
                      </a:r>
                    </a:p>
                  </a:txBody>
                  <a:tcPr marL="142875" marR="142875" marT="10477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receipt status, gasUsed, effectiveGasPrice</a:t>
                      </a:r>
                    </a:p>
                  </a:txBody>
                  <a:tcPr marL="142875" marR="142875" marT="104775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-13">
            <a:extLst xmlns:a="http://schemas.openxmlformats.org/drawingml/2006/main">
              <a:ext uri="{FF2B5EF4-FFF2-40B4-BE49-F238E27FC236}">
                <a16:creationId xmlns:a16="http://schemas.microsoft.com/office/drawing/2014/main" id="{755AA340-76E2-4FAA-9554-51F0BE1A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63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463DF"/>
                </a:solidFill>
                <a:latin typeface="Apple SD Gothic Neo"/>
                <a:ea typeface="Apple SD Gothic Neo"/>
                <a:cs typeface="Apple SD Gothic Neo"/>
              </a:rPr>
              <a:t>해시를 찾은 자리에서 짧은 영수증을 읽고, 필요할 때 원본 근거까지 확인합니다.</a:t>
            </a:r>
          </a:p>
        </p:txBody>
      </p:sp>
      <p:sp>
        <p:nvSpPr>
          <p:cNvPr id="10" name="text-14">
            <a:extLst xmlns:a="http://schemas.openxmlformats.org/drawingml/2006/main">
              <a:ext uri="{FF2B5EF4-FFF2-40B4-BE49-F238E27FC236}">
                <a16:creationId xmlns:a16="http://schemas.microsoft.com/office/drawing/2014/main" id="{ED3E8D82-1419-4779-B1F7-ECCD0534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대표 이용 상황을 바탕으로 한 문제 가설입니다. 사용자 인터뷰와 이해도 실험은 아직 진행하지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12196907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5">
            <a:extLst xmlns:a="http://schemas.openxmlformats.org/drawingml/2006/main">
              <a:ext uri="{FF2B5EF4-FFF2-40B4-BE49-F238E27FC236}">
                <a16:creationId xmlns:a16="http://schemas.microsoft.com/office/drawing/2014/main" id="{4BA10DA5-AAC8-40F2-9FB4-C1451337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거래 요약은 이미 있습니다. 체인렌즈는 이해와 확인을 연결합니다</a:t>
            </a:r>
          </a:p>
        </p:txBody>
      </p:sp>
      <p:sp>
        <p:nvSpPr>
          <p:cNvPr id="2" name="text-16">
            <a:extLst xmlns:a="http://schemas.openxmlformats.org/drawingml/2006/main">
              <a:ext uri="{FF2B5EF4-FFF2-40B4-BE49-F238E27FC236}">
                <a16:creationId xmlns:a16="http://schemas.microsoft.com/office/drawing/2014/main" id="{AFD054B2-392B-458A-A79B-E9B70D25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기존 기능과 겹치는 부분을 인정하고, 한국어 영수증과 근거 연결을 검증합니다.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668AA-3160-4A1E-9179-D92F4AC8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E0EC"/>
            </a:solidFill>
          </a:ln>
        </p:spPr>
      </p:sp>
      <p:sp>
        <p:nvSpPr>
          <p:cNvPr id="4" name="text-17">
            <a:extLst xmlns:a="http://schemas.openxmlformats.org/drawingml/2006/main">
              <a:ext uri="{FF2B5EF4-FFF2-40B4-BE49-F238E27FC236}">
                <a16:creationId xmlns:a16="http://schemas.microsoft.com/office/drawing/2014/main" id="{C87FF68D-B8F7-4F1D-813B-A25FFBEF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ChainLens  체인렌즈</a:t>
            </a:r>
          </a:p>
        </p:txBody>
      </p:sp>
      <p:sp>
        <p:nvSpPr>
          <p:cNvPr id="5" name="text-18">
            <a:extLst xmlns:a="http://schemas.openxmlformats.org/drawingml/2006/main">
              <a:ext uri="{FF2B5EF4-FFF2-40B4-BE49-F238E27FC236}">
                <a16:creationId xmlns:a16="http://schemas.microsoft.com/office/drawing/2014/main" id="{777F414D-7466-4AB6-9573-787BF987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5375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7667625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기존 서비스</a:t>
                      </a:r>
                    </a:p>
                  </a:txBody>
                  <a:tcPr marL="142875" marR="142875" marT="104775" marB="95250" anchor="ctr">
                    <a:solidFill>
                      <a:srgbClr val="0C274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공식 문서에서 확인한 기능</a:t>
                      </a:r>
                    </a:p>
                  </a:txBody>
                  <a:tcPr marL="142875" marR="142875" marT="104775" marB="95250" anchor="ctr">
                    <a:solidFill>
                      <a:srgbClr val="0C274B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Etherscan Transaction Action</a:t>
                      </a:r>
                    </a:p>
                  </a:txBody>
                  <a:tcPr marL="142875" marR="142875" marT="10477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선별된 거래 행위 표시, 해당 행위가 없는 거래의 AI 요약</a:t>
                      </a:r>
                    </a:p>
                  </a:txBody>
                  <a:tcPr marL="142875" marR="142875" marT="104775" marB="952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Blockscout Interpreter</a:t>
                      </a:r>
                    </a:p>
                  </a:txBody>
                  <a:tcPr marL="142875" marR="142875" marT="104775" marB="95250" anchor="ctr">
                    <a:solidFill>
                      <a:srgbClr val="F7F9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거래 데이터·디코딩·메타데이터 기반 요약, 규칙 분류와 LLM 보완</a:t>
                      </a:r>
                    </a:p>
                  </a:txBody>
                  <a:tcPr marL="142875" marR="142875" marT="104775" marB="95250" anchor="ctr">
                    <a:solidFill>
                      <a:srgbClr val="F7F9FC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Noves Translate</a:t>
                      </a:r>
                    </a:p>
                  </a:txBody>
                  <a:tcPr marL="142875" marR="142875" marT="10477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거래를 표준 유형으로 분류하는 해석 API</a:t>
                      </a:r>
                    </a:p>
                  </a:txBody>
                  <a:tcPr marL="142875" marR="142875" marT="104775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19">
            <a:extLst xmlns:a="http://schemas.openxmlformats.org/drawingml/2006/main">
              <a:ext uri="{FF2B5EF4-FFF2-40B4-BE49-F238E27FC236}">
                <a16:creationId xmlns:a16="http://schemas.microsoft.com/office/drawing/2014/main" id="{710876F0-328D-4169-A944-392579A6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3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463DF"/>
                </a:solidFill>
                <a:latin typeface="Apple SD Gothic Neo"/>
                <a:ea typeface="Apple SD Gothic Neo"/>
                <a:cs typeface="Apple SD Gothic Neo"/>
              </a:rPr>
              <a:t>차별화 가설</a:t>
            </a:r>
          </a:p>
        </p:txBody>
      </p:sp>
      <p:sp>
        <p:nvSpPr>
          <p:cNvPr id="8" name="text-20">
            <a:extLst xmlns:a="http://schemas.openxmlformats.org/drawingml/2006/main">
              <a:ext uri="{FF2B5EF4-FFF2-40B4-BE49-F238E27FC236}">
                <a16:creationId xmlns:a16="http://schemas.microsoft.com/office/drawing/2014/main" id="{79519A98-5395-45AD-9E45-2832C6F3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704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rPr>
              <a:t>자산·권한·수수료를 초보자의 질문 순서로 분리하고,</a:t>
            </a:r>
          </a:p>
          <a:p xmlns:a="http://schemas.openxmlformats.org/drawingml/2006/main">
            <a:pPr>
              <a:defRPr sz="2100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rPr>
              <a:t>설명마다 원본 근거와 확인 수준을 연결합니다.</a:t>
            </a:r>
          </a:p>
        </p:txBody>
      </p:sp>
      <p:sp>
        <p:nvSpPr>
          <p:cNvPr id="9" name="text-21">
            <a:extLst xmlns:a="http://schemas.openxmlformats.org/drawingml/2006/main">
              <a:ext uri="{FF2B5EF4-FFF2-40B4-BE49-F238E27FC236}">
                <a16:creationId xmlns:a16="http://schemas.microsoft.com/office/drawing/2014/main" id="{319C9456-6FD2-4EE2-B7B1-BF2E97CC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191125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63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463DF"/>
                </a:solidFill>
                <a:latin typeface="Apple SD Gothic Neo"/>
                <a:ea typeface="Apple SD Gothic Neo"/>
                <a:cs typeface="Apple SD Gothic Neo"/>
              </a:rPr>
              <a:t>빠른 영수증과</a:t>
            </a:r>
          </a:p>
          <a:p xmlns:a="http://schemas.openxmlformats.org/drawingml/2006/main">
            <a:pPr>
              <a:defRPr sz="1800" b="1">
                <a:solidFill>
                  <a:srgbClr val="1463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463DF"/>
                </a:solidFill>
                <a:latin typeface="Apple SD Gothic Neo"/>
                <a:ea typeface="Apple SD Gothic Neo"/>
                <a:cs typeface="Apple SD Gothic Neo"/>
              </a:rPr>
              <a:t>오른쪽 근거 패널을 잇는</a:t>
            </a:r>
          </a:p>
          <a:p xmlns:a="http://schemas.openxmlformats.org/drawingml/2006/main">
            <a:pPr>
              <a:defRPr sz="1800" b="1">
                <a:solidFill>
                  <a:srgbClr val="1463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463DF"/>
                </a:solidFill>
                <a:latin typeface="Apple SD Gothic Neo"/>
                <a:ea typeface="Apple SD Gothic Neo"/>
                <a:cs typeface="Apple SD Gothic Neo"/>
              </a:rPr>
              <a:t>Chrome 경험</a:t>
            </a:r>
          </a:p>
        </p:txBody>
      </p:sp>
    </p:spTree>
    <p:extLst>
      <p:ext uri="{BB962C8B-B14F-4D97-AF65-F5344CB8AC3E}">
        <p14:creationId xmlns:p14="http://schemas.microsoft.com/office/powerpoint/2010/main" val="10086294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22">
            <a:extLst xmlns:a="http://schemas.openxmlformats.org/drawingml/2006/main">
              <a:ext uri="{FF2B5EF4-FFF2-40B4-BE49-F238E27FC236}">
                <a16:creationId xmlns:a16="http://schemas.microsoft.com/office/drawing/2014/main" id="{BB352260-FD1A-4080-B7C4-017500B1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드래그·우클릭하면, 바로 거래 영수증을 봅니다</a:t>
            </a:r>
          </a:p>
        </p:txBody>
      </p:sp>
      <p:sp>
        <p:nvSpPr>
          <p:cNvPr id="2" name="text-23">
            <a:extLst xmlns:a="http://schemas.openxmlformats.org/drawingml/2006/main">
              <a:ext uri="{FF2B5EF4-FFF2-40B4-BE49-F238E27FC236}">
                <a16:creationId xmlns:a16="http://schemas.microsoft.com/office/drawing/2014/main" id="{5211F680-B3BC-43E9-9BCC-45E2D309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현재 웹 MVP 화면과 실제로 구현·검증한 Chrome 확장 흐름을 구분해 제시합니다.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A7265-F955-4B9E-A8FC-3F055FFF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E0EC"/>
            </a:solidFill>
          </a:ln>
        </p:spPr>
      </p:sp>
      <p:sp>
        <p:nvSpPr>
          <p:cNvPr id="4" name="text-24">
            <a:extLst xmlns:a="http://schemas.openxmlformats.org/drawingml/2006/main">
              <a:ext uri="{FF2B5EF4-FFF2-40B4-BE49-F238E27FC236}">
                <a16:creationId xmlns:a16="http://schemas.microsoft.com/office/drawing/2014/main" id="{371EFBD5-1242-40D4-849A-00676F74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ChainLens  체인렌즈</a:t>
            </a:r>
          </a:p>
        </p:txBody>
      </p:sp>
      <p:sp>
        <p:nvSpPr>
          <p:cNvPr id="5" name="text-25">
            <a:extLst xmlns:a="http://schemas.openxmlformats.org/drawingml/2006/main">
              <a:ext uri="{FF2B5EF4-FFF2-40B4-BE49-F238E27FC236}">
                <a16:creationId xmlns:a16="http://schemas.microsoft.com/office/drawing/2014/main" id="{2E547FF0-4512-48E8-B806-95FBCAA8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3db88611045cd"/>
          <a:srcRect xmlns:a="http://schemas.openxmlformats.org/drawingml/2006/main" l="77" t="0" r="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143125"/>
            <a:ext cx="6162675" cy="2657475"/>
          </a:xfrm>
          <a:prstGeom xmlns:a="http://schemas.openxmlformats.org/drawingml/2006/main" prst="rect">
            <a:avLst/>
          </a:prstGeom>
        </p:spPr>
      </p:pic>
      <p:sp>
        <p:nvSpPr>
          <p:cNvPr id="7" name="text-26">
            <a:extLst xmlns:a="http://schemas.openxmlformats.org/drawingml/2006/main">
              <a:ext uri="{FF2B5EF4-FFF2-40B4-BE49-F238E27FC236}">
                <a16:creationId xmlns:a16="http://schemas.microsoft.com/office/drawing/2014/main" id="{B28326ED-FCCA-498C-9F6A-A3B9BCF8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614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기존 웹 MVP 성공 거래 화면 (확장 UI가 아님)</a:t>
            </a:r>
          </a:p>
        </p:txBody>
      </p:sp>
      <p:sp>
        <p:nvSpPr>
          <p:cNvPr id="8" name="text-27">
            <a:extLst xmlns:a="http://schemas.openxmlformats.org/drawingml/2006/main">
              <a:ext uri="{FF2B5EF4-FFF2-40B4-BE49-F238E27FC236}">
                <a16:creationId xmlns:a16="http://schemas.microsoft.com/office/drawing/2014/main" id="{7BD98AA2-B9CF-48EA-943B-7B77005D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954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3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463DF"/>
                </a:solidFill>
                <a:latin typeface="Apple SD Gothic Neo"/>
                <a:ea typeface="Apple SD Gothic Neo"/>
                <a:cs typeface="Apple SD Gothic Neo"/>
              </a:rPr>
              <a:t>Chrome 확장 실제 흐름</a:t>
            </a:r>
          </a:p>
        </p:txBody>
      </p:sp>
      <p:sp>
        <p:nvSpPr>
          <p:cNvPr id="9" name="node-28">
            <a:extLst xmlns:a="http://schemas.openxmlformats.org/drawingml/2006/main">
              <a:ext uri="{FF2B5EF4-FFF2-40B4-BE49-F238E27FC236}">
                <a16:creationId xmlns:a16="http://schemas.microsoft.com/office/drawing/2014/main" id="{99A13E73-3AF0-45FC-A639-577B91A9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05050"/>
            <a:ext cx="1219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1906">
            <a:solidFill>
              <a:srgbClr val="D6E0EC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  <a:p xmlns:a="http://schemas.openxmlformats.org/drawingml/2006/main">
            <a:pPr algn="ctr">
              <a:def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해시 선택</a:t>
            </a:r>
          </a:p>
        </p:txBody>
      </p:sp>
      <p:sp>
        <p:nvSpPr>
          <p:cNvPr id="10" name="node-29">
            <a:extLst xmlns:a="http://schemas.openxmlformats.org/drawingml/2006/main">
              <a:ext uri="{FF2B5EF4-FFF2-40B4-BE49-F238E27FC236}">
                <a16:creationId xmlns:a16="http://schemas.microsoft.com/office/drawing/2014/main" id="{7BEF26A6-3459-48C2-B97E-047144A2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05050"/>
            <a:ext cx="1219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1906">
            <a:solidFill>
              <a:srgbClr val="D6E0EC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  <a:p xmlns:a="http://schemas.openxmlformats.org/drawingml/2006/main">
            <a:pPr algn="ctr">
              <a:def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우클릭 메뉴</a:t>
            </a:r>
          </a:p>
        </p:txBody>
      </p:sp>
      <p:sp>
        <p:nvSpPr>
          <p:cNvPr id="11" name="node-30">
            <a:extLst xmlns:a="http://schemas.openxmlformats.org/drawingml/2006/main">
              <a:ext uri="{FF2B5EF4-FFF2-40B4-BE49-F238E27FC236}">
                <a16:creationId xmlns:a16="http://schemas.microsoft.com/office/drawing/2014/main" id="{CEFE3D28-0890-480F-9E8E-1E6088FB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05050"/>
            <a:ext cx="1352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1906">
            <a:solidFill>
              <a:srgbClr val="D6E0EC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  <a:p xmlns:a="http://schemas.openxmlformats.org/drawingml/2006/main">
            <a:pPr algn="ctr">
              <a:def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Shadow DOM</a:t>
            </a:r>
          </a:p>
          <a:p xmlns:a="http://schemas.openxmlformats.org/drawingml/2006/main">
            <a:pPr algn="ctr">
              <a:def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빠른 영수증</a:t>
            </a:r>
          </a:p>
        </p:txBody>
      </p:sp>
      <p:sp>
        <p:nvSpPr>
          <p:cNvPr id="12" name="node-31">
            <a:extLst xmlns:a="http://schemas.openxmlformats.org/drawingml/2006/main">
              <a:ext uri="{FF2B5EF4-FFF2-40B4-BE49-F238E27FC236}">
                <a16:creationId xmlns:a16="http://schemas.microsoft.com/office/drawing/2014/main" id="{4BE7B9CF-BF85-4670-8690-9D89DA4A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76650"/>
            <a:ext cx="1543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D"/>
          </a:solidFill>
          <a:ln xmlns:a="http://schemas.openxmlformats.org/drawingml/2006/main" w="11906">
            <a:solidFill>
              <a:srgbClr val="9FCBB1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  <a:p xmlns:a="http://schemas.openxmlformats.org/drawingml/2006/main">
            <a:pPr algn="ctr">
              <a:def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오른쪽</a:t>
            </a:r>
          </a:p>
          <a:p xmlns:a="http://schemas.openxmlformats.org/drawingml/2006/main">
            <a:pPr algn="ctr">
              <a:def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Side Panel</a:t>
            </a:r>
          </a:p>
        </p:txBody>
      </p: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458200" y="26955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3DF"/>
            </a:solidFill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944100" y="26955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3DF"/>
            </a:solidFill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11" idx="2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10267950" y="3086100"/>
            <a:ext cx="619125" cy="1019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3DF"/>
            </a:solidFill>
            <a:tailEnd type="arrow" w="med" len="med"/>
          </a:ln>
        </p:spPr>
      </p:cxnSp>
      <p:sp>
        <p:nvSpPr>
          <p:cNvPr id="16" name="text-32">
            <a:extLst xmlns:a="http://schemas.openxmlformats.org/drawingml/2006/main">
              <a:ext uri="{FF2B5EF4-FFF2-40B4-BE49-F238E27FC236}">
                <a16:creationId xmlns:a16="http://schemas.microsoft.com/office/drawing/2014/main" id="{2179D64C-D302-4DE0-9B8E-69084960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0125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rPr>
              <a:t>Etherscan·Ethereum Blockscout 지원</a:t>
            </a:r>
          </a:p>
          <a:p xmlns:a="http://schemas.openxmlformats.org/drawingml/2006/main">
            <a:pPr>
              <a:defRPr sz="1575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rPr>
              <a:t>확장 아이콘이 URL을 인식해 같은</a:t>
            </a:r>
          </a:p>
          <a:p xmlns:a="http://schemas.openxmlformats.org/drawingml/2006/main">
            <a:pPr>
              <a:defRPr sz="1575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rPr>
              <a:t>Side Panel을 엽니다.</a:t>
            </a:r>
          </a:p>
        </p:txBody>
      </p:sp>
      <p:sp>
        <p:nvSpPr>
          <p:cNvPr id="17" name="text-33">
            <a:extLst xmlns:a="http://schemas.openxmlformats.org/drawingml/2006/main">
              <a:ext uri="{FF2B5EF4-FFF2-40B4-BE49-F238E27FC236}">
                <a16:creationId xmlns:a16="http://schemas.microsoft.com/office/drawing/2014/main" id="{A59ED820-8D2B-4382-8652-65585879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1025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Chrome unpacked E2E 완료 · 우클릭·Side Panel 확인</a:t>
            </a:r>
          </a:p>
        </p:txBody>
      </p:sp>
    </p:spTree>
    <p:extLst>
      <p:ext uri="{BB962C8B-B14F-4D97-AF65-F5344CB8AC3E}">
        <p14:creationId xmlns:p14="http://schemas.microsoft.com/office/powerpoint/2010/main" val="19504952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34">
            <a:extLst xmlns:a="http://schemas.openxmlformats.org/drawingml/2006/main">
              <a:ext uri="{FF2B5EF4-FFF2-40B4-BE49-F238E27FC236}">
                <a16:creationId xmlns:a16="http://schemas.microsoft.com/office/drawing/2014/main" id="{019D9175-8A39-4258-8C29-3B9DE0F8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전송, 승인, 실패를 다르게 설명합니다</a:t>
            </a:r>
          </a:p>
        </p:txBody>
      </p:sp>
      <p:sp>
        <p:nvSpPr>
          <p:cNvPr id="2" name="text-35">
            <a:extLst xmlns:a="http://schemas.openxmlformats.org/drawingml/2006/main">
              <a:ext uri="{FF2B5EF4-FFF2-40B4-BE49-F238E27FC236}">
                <a16:creationId xmlns:a16="http://schemas.microsoft.com/office/drawing/2014/main" id="{AE884E12-C8E7-4282-AD3C-9F13450D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코드가 관측한 사실과 화면에 표시해야 할 주의사항을 함께 관리합니다.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4AFAF-1933-408A-97B7-D7877B15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E0EC"/>
            </a:solidFill>
          </a:ln>
        </p:spPr>
      </p:sp>
      <p:sp>
        <p:nvSpPr>
          <p:cNvPr id="4" name="text-36">
            <a:extLst xmlns:a="http://schemas.openxmlformats.org/drawingml/2006/main">
              <a:ext uri="{FF2B5EF4-FFF2-40B4-BE49-F238E27FC236}">
                <a16:creationId xmlns:a16="http://schemas.microsoft.com/office/drawing/2014/main" id="{3EF23EC5-2FB1-478B-9E25-79C456CE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ChainLens  체인렌즈</a:t>
            </a:r>
          </a:p>
        </p:txBody>
      </p:sp>
      <p:sp>
        <p:nvSpPr>
          <p:cNvPr id="5" name="text-37">
            <a:extLst xmlns:a="http://schemas.openxmlformats.org/drawingml/2006/main">
              <a:ext uri="{FF2B5EF4-FFF2-40B4-BE49-F238E27FC236}">
                <a16:creationId xmlns:a16="http://schemas.microsoft.com/office/drawing/2014/main" id="{1FAC446E-B572-43F5-B231-64EBA4EC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5375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4381500"/>
                <a:gridCol w="4953000"/>
              </a:tblGrid>
              <a:tr h="738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장면</a:t>
                      </a:r>
                    </a:p>
                  </a:txBody>
                  <a:tcPr marL="142875" marR="142875" marT="104775" marB="95250" anchor="ctr">
                    <a:solidFill>
                      <a:srgbClr val="0C274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사용자에게 보여줄 해석</a:t>
                      </a:r>
                    </a:p>
                  </a:txBody>
                  <a:tcPr marL="142875" marR="142875" marT="104775" marB="95250" anchor="ctr">
                    <a:solidFill>
                      <a:srgbClr val="0C274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근거·주의</a:t>
                      </a:r>
                    </a:p>
                  </a:txBody>
                  <a:tcPr marL="142875" marR="142875" marT="104775" marB="95250" anchor="ctr">
                    <a:solidFill>
                      <a:srgbClr val="0C274B"/>
                    </a:solidFill>
                  </a:tcPr>
                </a:tc>
              </a:tr>
              <a:tr h="738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전송</a:t>
                      </a:r>
                    </a:p>
                  </a:txBody>
                  <a:tcPr marL="142875" marR="142875" marT="10477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어떤 자산이 어느 주소로 이동했는지</a:t>
                      </a:r>
                    </a:p>
                  </a:txBody>
                  <a:tcPr marL="142875" marR="142875" marT="10477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value 또는 Transfer 로그. 전체 잔액 변화와 구분</a:t>
                      </a:r>
                    </a:p>
                  </a:txBody>
                  <a:tcPr marL="142875" marR="142875" marT="104775" marB="9525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승인</a:t>
                      </a:r>
                    </a:p>
                  </a:txBody>
                  <a:tcPr marL="142875" marR="142875" marT="104775" marB="95250" anchor="ctr">
                    <a:solidFill>
                      <a:srgbClr val="F7F9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어느 주소에 당시 사용 한도를 설정했는지</a:t>
                      </a:r>
                    </a:p>
                  </a:txBody>
                  <a:tcPr marL="142875" marR="142875" marT="104775" marB="95250" anchor="ctr">
                    <a:solidFill>
                      <a:srgbClr val="F7F9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Approval 로그. 현재 allowance로 단정하지 않음</a:t>
                      </a:r>
                    </a:p>
                  </a:txBody>
                  <a:tcPr marL="142875" marR="142875" marT="104775" marB="95250" anchor="ctr">
                    <a:solidFill>
                      <a:srgbClr val="F7F9FC"/>
                    </a:solidFill>
                  </a:tcPr>
                </a:tc>
              </a:tr>
              <a:tr h="7381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실패</a:t>
                      </a:r>
                    </a:p>
                  </a:txBody>
                  <a:tcPr marL="142875" marR="142875" marT="10477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실행 실패와 발생한 수수료</a:t>
                      </a:r>
                    </a:p>
                  </a:txBody>
                  <a:tcPr marL="142875" marR="142875" marT="10477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receipt 상태. 요청된 이동을 완료로 표시하지 않음</a:t>
                      </a:r>
                    </a:p>
                  </a:txBody>
                  <a:tcPr marL="142875" marR="142875" marT="104775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38">
            <a:extLst xmlns:a="http://schemas.openxmlformats.org/drawingml/2006/main">
              <a:ext uri="{FF2B5EF4-FFF2-40B4-BE49-F238E27FC236}">
                <a16:creationId xmlns:a16="http://schemas.microsoft.com/office/drawing/2014/main" id="{71923CF4-4847-42E7-B605-84D294E4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실제 저장 RPC 사례: USDC 전송, ETH 전송, 당시 USDC Approval, 실패 거래 4건</a:t>
            </a:r>
          </a:p>
        </p:txBody>
      </p:sp>
      <p:sp>
        <p:nvSpPr>
          <p:cNvPr id="8" name="text-39">
            <a:extLst xmlns:a="http://schemas.openxmlformats.org/drawingml/2006/main">
              <a:ext uri="{FF2B5EF4-FFF2-40B4-BE49-F238E27FC236}">
                <a16:creationId xmlns:a16="http://schemas.microsoft.com/office/drawing/2014/main" id="{FE51E62D-D998-4661-B62B-805ACFCE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기존 웹 MVP의 실시간 대조는 35/35 항목을 기록했습니다. 정적·단위 검사는 전체 거래 정확도를 보장하지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3686554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40">
            <a:extLst xmlns:a="http://schemas.openxmlformats.org/drawingml/2006/main">
              <a:ext uri="{FF2B5EF4-FFF2-40B4-BE49-F238E27FC236}">
                <a16:creationId xmlns:a16="http://schemas.microsoft.com/office/drawing/2014/main" id="{829AFAF1-1519-493B-814B-6E58D815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체인에서 사실을 읽고, Groq는 용어만 설명합니다</a:t>
            </a:r>
          </a:p>
        </p:txBody>
      </p:sp>
      <p:sp>
        <p:nvSpPr>
          <p:cNvPr id="2" name="text-41">
            <a:extLst xmlns:a="http://schemas.openxmlformats.org/drawingml/2006/main">
              <a:ext uri="{FF2B5EF4-FFF2-40B4-BE49-F238E27FC236}">
                <a16:creationId xmlns:a16="http://schemas.microsoft.com/office/drawing/2014/main" id="{4537D3EE-AEE6-4DF6-8F47-6F9BCE13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Chrome MV3 확장과 웹 UI가 같은 로컬 API를 통해 검증된 사실을 받습니다.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D999A-6356-48E3-95A1-192E5C22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E0EC"/>
            </a:solidFill>
          </a:ln>
        </p:spPr>
      </p:sp>
      <p:sp>
        <p:nvSpPr>
          <p:cNvPr id="4" name="text-42">
            <a:extLst xmlns:a="http://schemas.openxmlformats.org/drawingml/2006/main">
              <a:ext uri="{FF2B5EF4-FFF2-40B4-BE49-F238E27FC236}">
                <a16:creationId xmlns:a16="http://schemas.microsoft.com/office/drawing/2014/main" id="{6DA85D1A-6347-484D-940D-C1563A34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ChainLens  체인렌즈</a:t>
            </a:r>
          </a:p>
        </p:txBody>
      </p:sp>
      <p:sp>
        <p:nvSpPr>
          <p:cNvPr id="5" name="text-43">
            <a:extLst xmlns:a="http://schemas.openxmlformats.org/drawingml/2006/main">
              <a:ext uri="{FF2B5EF4-FFF2-40B4-BE49-F238E27FC236}">
                <a16:creationId xmlns:a16="http://schemas.microsoft.com/office/drawing/2014/main" id="{67F6B8AA-7F76-4342-8E6E-37A2C143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6" name="node-44">
            <a:extLst xmlns:a="http://schemas.openxmlformats.org/drawingml/2006/main">
              <a:ext uri="{FF2B5EF4-FFF2-40B4-BE49-F238E27FC236}">
                <a16:creationId xmlns:a16="http://schemas.microsoft.com/office/drawing/2014/main" id="{BD7A8868-961C-4B6E-9998-8DF15097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314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F"/>
          </a:solidFill>
          <a:ln xmlns:a="http://schemas.openxmlformats.org/drawingml/2006/main" w="11906">
            <a:solidFill>
              <a:srgbClr val="D6E0EC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웹 UI / MV3 확장</a:t>
            </a:r>
          </a:p>
          <a:p xmlns:a="http://schemas.openxmlformats.org/drawingml/2006/main">
            <a:pPr algn="ctr">
              <a:def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Context menu · Shadow DOM · Side Panel</a:t>
            </a:r>
          </a:p>
        </p:txBody>
      </p:sp>
      <p:sp>
        <p:nvSpPr>
          <p:cNvPr id="7" name="node-45">
            <a:extLst xmlns:a="http://schemas.openxmlformats.org/drawingml/2006/main">
              <a:ext uri="{FF2B5EF4-FFF2-40B4-BE49-F238E27FC236}">
                <a16:creationId xmlns:a16="http://schemas.microsoft.com/office/drawing/2014/main" id="{9BEBEF5A-0179-47BA-A602-A136878F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85925"/>
            <a:ext cx="3314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F"/>
          </a:solidFill>
          <a:ln xmlns:a="http://schemas.openxmlformats.org/drawingml/2006/main" w="11906">
            <a:solidFill>
              <a:srgbClr val="D6E0EC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로컬 Node.js API</a:t>
            </a:r>
          </a:p>
          <a:p xmlns:a="http://schemas.openxmlformats.org/drawingml/2006/main">
            <a:pPr algn="ctr">
              <a:def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hash·URL 검증 · CORS · operation 상태</a:t>
            </a:r>
          </a:p>
        </p:txBody>
      </p:sp>
      <p:sp>
        <p:nvSpPr>
          <p:cNvPr id="8" name="node-46">
            <a:extLst xmlns:a="http://schemas.openxmlformats.org/drawingml/2006/main">
              <a:ext uri="{FF2B5EF4-FFF2-40B4-BE49-F238E27FC236}">
                <a16:creationId xmlns:a16="http://schemas.microsoft.com/office/drawing/2014/main" id="{A3509523-157D-4D74-9492-0DDB5021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85925"/>
            <a:ext cx="3314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F"/>
          </a:solidFill>
          <a:ln xmlns:a="http://schemas.openxmlformats.org/drawingml/2006/main" w="11906">
            <a:solidFill>
              <a:srgbClr val="D6E0EC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Ethereum JSON-RPC</a:t>
            </a:r>
          </a:p>
          <a:p xmlns:a="http://schemas.openxmlformats.org/drawingml/2006/main">
            <a:pPr algn="ctr">
              <a:def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transaction · receipt · logs</a:t>
            </a:r>
          </a:p>
        </p:txBody>
      </p:sp>
      <p:sp>
        <p:nvSpPr>
          <p:cNvPr id="9" name="node-47">
            <a:extLst xmlns:a="http://schemas.openxmlformats.org/drawingml/2006/main">
              <a:ext uri="{FF2B5EF4-FFF2-40B4-BE49-F238E27FC236}">
                <a16:creationId xmlns:a16="http://schemas.microsoft.com/office/drawing/2014/main" id="{2454BE1D-6FD4-419E-A1BC-2B5F39B9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71850"/>
            <a:ext cx="3314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D"/>
          </a:solidFill>
          <a:ln xmlns:a="http://schemas.openxmlformats.org/drawingml/2006/main" w="11906">
            <a:solidFill>
              <a:srgbClr val="9FCBB1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사실 추출</a:t>
            </a:r>
          </a:p>
          <a:p xmlns:a="http://schemas.openxmlformats.org/drawingml/2006/main">
            <a:pPr algn="ctr">
              <a:def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BigInt · Transfer · Approval · 수수료</a:t>
            </a:r>
          </a:p>
        </p:txBody>
      </p:sp>
      <p:sp>
        <p:nvSpPr>
          <p:cNvPr id="10" name="node-48">
            <a:extLst xmlns:a="http://schemas.openxmlformats.org/drawingml/2006/main">
              <a:ext uri="{FF2B5EF4-FFF2-40B4-BE49-F238E27FC236}">
                <a16:creationId xmlns:a16="http://schemas.microsoft.com/office/drawing/2014/main" id="{D29D1DBE-7438-4A46-95E5-2B8E2AEC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71850"/>
            <a:ext cx="3314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5"/>
          </a:solidFill>
          <a:ln xmlns:a="http://schemas.openxmlformats.org/drawingml/2006/main" w="11906">
            <a:solidFill>
              <a:srgbClr val="D7BD7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Groq 전용 설명 경로</a:t>
            </a:r>
          </a:p>
          <a:p xmlns:a="http://schemas.openxmlformats.org/drawingml/2006/main">
            <a:pPr algn="ctr">
              <a:def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safeFacts만 전달 · JSON / output guard</a:t>
            </a:r>
          </a:p>
        </p:txBody>
      </p:sp>
      <p:sp>
        <p:nvSpPr>
          <p:cNvPr id="11" name="node-49">
            <a:extLst xmlns:a="http://schemas.openxmlformats.org/drawingml/2006/main">
              <a:ext uri="{FF2B5EF4-FFF2-40B4-BE49-F238E27FC236}">
                <a16:creationId xmlns:a16="http://schemas.microsoft.com/office/drawing/2014/main" id="{2AF5A934-12C3-44F4-B302-CE65733A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24425"/>
            <a:ext cx="3314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1906">
            <a:solidFill>
              <a:srgbClr val="D6E0EC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규칙 기반 설명</a:t>
            </a:r>
          </a:p>
          <a:p xmlns:a="http://schemas.openxmlformats.org/drawingml/2006/main">
            <a:pPr algn="ctr">
              <a:def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키·HTTP·timeout·guard 실패 시 전환</a:t>
            </a:r>
          </a:p>
        </p:txBody>
      </p: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924300" y="21621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3DF"/>
            </a:solidFill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753350" y="21621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3DF"/>
            </a:solidFill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8" idx="2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753350" y="2638425"/>
            <a:ext cx="2171700" cy="1209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3DF"/>
            </a:solidFill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753350" y="38481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3DF"/>
            </a:solidFill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753350" y="3848100"/>
            <a:ext cx="514350" cy="1457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95800"/>
            </a:solidFill>
            <a:tailEnd type="arrow" w="med" len="med"/>
          </a:ln>
        </p:spPr>
      </p:cxnSp>
      <p:sp>
        <p:nvSpPr>
          <p:cNvPr id="17" name="text-50">
            <a:extLst xmlns:a="http://schemas.openxmlformats.org/drawingml/2006/main">
              <a:ext uri="{FF2B5EF4-FFF2-40B4-BE49-F238E27FC236}">
                <a16:creationId xmlns:a16="http://schemas.microsoft.com/office/drawing/2014/main" id="{D8FCA1DD-9112-4B0D-9348-29A03876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34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9B3434"/>
                </a:solidFill>
                <a:latin typeface="Apple SD Gothic Neo"/>
                <a:ea typeface="Apple SD Gothic Neo"/>
                <a:cs typeface="Apple SD Gothic Neo"/>
              </a:rPr>
              <a:t>경계: API 키는 서버 환경변수에만 둡니다. 확장·ZIP·UI에는 넣지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4331120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51">
            <a:extLst xmlns:a="http://schemas.openxmlformats.org/drawingml/2006/main">
              <a:ext uri="{FF2B5EF4-FFF2-40B4-BE49-F238E27FC236}">
                <a16:creationId xmlns:a16="http://schemas.microsoft.com/office/drawing/2014/main" id="{B7919AFB-7067-4C9F-8120-E55EF602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블록체인은 사실의 출처, AI는 설명 계층입니다</a:t>
            </a:r>
          </a:p>
        </p:txBody>
      </p:sp>
      <p:sp>
        <p:nvSpPr>
          <p:cNvPr id="2" name="text-52">
            <a:extLst xmlns:a="http://schemas.openxmlformats.org/drawingml/2006/main">
              <a:ext uri="{FF2B5EF4-FFF2-40B4-BE49-F238E27FC236}">
                <a16:creationId xmlns:a16="http://schemas.microsoft.com/office/drawing/2014/main" id="{0ACC46E5-2E20-423E-AA40-32EFA2B8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수량·주소·실행 결과를 AI가 새로 만들지 못하도록 경계를 둡니다.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48700-30D0-493B-8CAD-A14DDB9C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E0EC"/>
            </a:solidFill>
          </a:ln>
        </p:spPr>
      </p:sp>
      <p:sp>
        <p:nvSpPr>
          <p:cNvPr id="4" name="text-53">
            <a:extLst xmlns:a="http://schemas.openxmlformats.org/drawingml/2006/main">
              <a:ext uri="{FF2B5EF4-FFF2-40B4-BE49-F238E27FC236}">
                <a16:creationId xmlns:a16="http://schemas.microsoft.com/office/drawing/2014/main" id="{D7C524BF-D36F-4768-8569-E05211CB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ChainLens  체인렌즈</a:t>
            </a:r>
          </a:p>
        </p:txBody>
      </p:sp>
      <p:sp>
        <p:nvSpPr>
          <p:cNvPr id="5" name="text-54">
            <a:extLst xmlns:a="http://schemas.openxmlformats.org/drawingml/2006/main">
              <a:ext uri="{FF2B5EF4-FFF2-40B4-BE49-F238E27FC236}">
                <a16:creationId xmlns:a16="http://schemas.microsoft.com/office/drawing/2014/main" id="{B46A990A-03FE-4244-BBEA-869FFA69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3D8A9-D976-4920-98C7-3C666DAA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573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E0EC"/>
            </a:solidFill>
          </a:ln>
        </p:spPr>
      </p:sp>
      <p:sp>
        <p:nvSpPr>
          <p:cNvPr id="7" name="text-55">
            <a:extLst xmlns:a="http://schemas.openxmlformats.org/drawingml/2006/main">
              <a:ext uri="{FF2B5EF4-FFF2-40B4-BE49-F238E27FC236}">
                <a16:creationId xmlns:a16="http://schemas.microsoft.com/office/drawing/2014/main" id="{8F8AC20F-3644-42F7-8035-1D5015FD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3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463DF"/>
                </a:solidFill>
                <a:latin typeface="Apple SD Gothic Neo"/>
                <a:ea typeface="Apple SD Gothic Neo"/>
                <a:cs typeface="Apple SD Gothic Neo"/>
              </a:rPr>
              <a:t>코드·블록체인 데이터</a:t>
            </a:r>
          </a:p>
        </p:txBody>
      </p:sp>
      <p:sp>
        <p:nvSpPr>
          <p:cNvPr id="8" name="text-56">
            <a:extLst xmlns:a="http://schemas.openxmlformats.org/drawingml/2006/main">
              <a:ext uri="{FF2B5EF4-FFF2-40B4-BE49-F238E27FC236}">
                <a16:creationId xmlns:a16="http://schemas.microsoft.com/office/drawing/2014/main" id="{BBE2D713-1EAF-46B1-BF16-D4C4B4E6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716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3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463DF"/>
                </a:solidFill>
                <a:latin typeface="Apple SD Gothic Neo"/>
                <a:ea typeface="Apple SD Gothic Neo"/>
                <a:cs typeface="Apple SD Gothic Neo"/>
              </a:rPr>
              <a:t>Groq 설명</a:t>
            </a:r>
          </a:p>
        </p:txBody>
      </p:sp>
      <p:sp>
        <p:nvSpPr>
          <p:cNvPr id="9" name="text-57">
            <a:extLst xmlns:a="http://schemas.openxmlformats.org/drawingml/2006/main">
              <a:ext uri="{FF2B5EF4-FFF2-40B4-BE49-F238E27FC236}">
                <a16:creationId xmlns:a16="http://schemas.microsoft.com/office/drawing/2014/main" id="{E7690790-43ED-44E5-ACB5-3F92BF7F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4953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rPr>
              <a:t>수량·소수점·주소·방향 계산</a:t>
            </a:r>
          </a:p>
          <a:p xmlns:a="http://schemas.openxmlformats.org/drawingml/2006/main">
            <a:pPr>
              <a:defRPr sz="2100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rPr>
              <a:t>승인과 전송 분리</a:t>
            </a:r>
          </a:p>
          <a:p xmlns:a="http://schemas.openxmlformats.org/drawingml/2006/main">
            <a:pPr>
              <a:defRPr sz="2100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rPr>
              <a:t>실행 상태·수수료 추출</a:t>
            </a:r>
          </a:p>
          <a:p xmlns:a="http://schemas.openxmlformats.org/drawingml/2006/main">
            <a:pPr>
              <a:defRPr sz="2100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rPr>
              <a:t>원본 필드·로그 근거 보존</a:t>
            </a:r>
          </a:p>
        </p:txBody>
      </p:sp>
      <p:sp>
        <p:nvSpPr>
          <p:cNvPr id="10" name="text-58">
            <a:extLst xmlns:a="http://schemas.openxmlformats.org/drawingml/2006/main">
              <a:ext uri="{FF2B5EF4-FFF2-40B4-BE49-F238E27FC236}">
                <a16:creationId xmlns:a16="http://schemas.microsoft.com/office/drawing/2014/main" id="{ADB1630B-A2C2-43CB-B344-69980F71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4857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rPr>
              <a:t>safeFacts 기반 짧은 한국어 설명</a:t>
            </a:r>
          </a:p>
          <a:p xmlns:a="http://schemas.openxmlformats.org/drawingml/2006/main">
            <a:pPr>
              <a:defRPr sz="2100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rPr>
              <a:t>전송·승인·실패 용어 풀이</a:t>
            </a:r>
          </a:p>
          <a:p xmlns:a="http://schemas.openxmlformats.org/drawingml/2006/main">
            <a:pPr>
              <a:defRPr sz="2100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rPr>
              <a:t>숫자·주소·가격·안전성 판단 추가 금지</a:t>
            </a:r>
          </a:p>
          <a:p xmlns:a="http://schemas.openxmlformats.org/drawingml/2006/main">
            <a:pPr>
              <a:defRPr sz="2100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rPr>
              <a:t>guard 실패 시 규칙 기반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2385F-4126-43E9-B597-93430BF5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E0EC"/>
            </a:solidFill>
          </a:ln>
        </p:spPr>
      </p:sp>
      <p:sp>
        <p:nvSpPr>
          <p:cNvPr id="12" name="text-59">
            <a:extLst xmlns:a="http://schemas.openxmlformats.org/drawingml/2006/main">
              <a:ext uri="{FF2B5EF4-FFF2-40B4-BE49-F238E27FC236}">
                <a16:creationId xmlns:a16="http://schemas.microsoft.com/office/drawing/2014/main" id="{F7551FA3-FE9C-40CD-A744-9245B6B4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검증 상태</a:t>
            </a:r>
          </a:p>
        </p:txBody>
      </p:sp>
      <p:sp>
        <p:nvSpPr>
          <p:cNvPr id="13" name="text-60">
            <a:extLst xmlns:a="http://schemas.openxmlformats.org/drawingml/2006/main">
              <a:ext uri="{FF2B5EF4-FFF2-40B4-BE49-F238E27FC236}">
                <a16:creationId xmlns:a16="http://schemas.microsoft.com/office/drawing/2014/main" id="{484F9E2E-D845-4603-86FC-68D76A26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0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mock 성공, HTTP 오류, timeout, 잘못된 JSON, output guard 실패의 fallback을 app 26/26 검사로 확인했습니다.</a:t>
            </a:r>
          </a:p>
          <a:p xmlns:a="http://schemas.openxmlformats.org/drawingml/2006/main">
            <a:pPr>
              <a:defRPr sz="1725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openai/gpt-oss-20b 실제 Groq 호출에서도 AI 모드와 output guard 통과를 확인했습니다.</a:t>
            </a:r>
          </a:p>
        </p:txBody>
      </p:sp>
    </p:spTree>
    <p:extLst>
      <p:ext uri="{BB962C8B-B14F-4D97-AF65-F5344CB8AC3E}">
        <p14:creationId xmlns:p14="http://schemas.microsoft.com/office/powerpoint/2010/main" val="20753520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61">
            <a:extLst xmlns:a="http://schemas.openxmlformats.org/drawingml/2006/main">
              <a:ext uri="{FF2B5EF4-FFF2-40B4-BE49-F238E27FC236}">
                <a16:creationId xmlns:a16="http://schemas.microsoft.com/office/drawing/2014/main" id="{D15A5E8B-7EF9-4576-A91E-B035B2C0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첫 목표는 사용자가 거래를 정확히 설명하게 만드는 것입니다</a:t>
            </a:r>
          </a:p>
        </p:txBody>
      </p:sp>
      <p:sp>
        <p:nvSpPr>
          <p:cNvPr id="2" name="text-62">
            <a:extLst xmlns:a="http://schemas.openxmlformats.org/drawingml/2006/main">
              <a:ext uri="{FF2B5EF4-FFF2-40B4-BE49-F238E27FC236}">
                <a16:creationId xmlns:a16="http://schemas.microsoft.com/office/drawing/2014/main" id="{486DCC52-EB17-4DA0-A4DA-CA20D90F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사용자 검증 계획입니다. 아직 모집하거나 측정하지 않았습니다.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3A196-AF77-4B36-893A-9825EA7A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E0EC"/>
            </a:solidFill>
          </a:ln>
        </p:spPr>
      </p:sp>
      <p:sp>
        <p:nvSpPr>
          <p:cNvPr id="4" name="text-63">
            <a:extLst xmlns:a="http://schemas.openxmlformats.org/drawingml/2006/main">
              <a:ext uri="{FF2B5EF4-FFF2-40B4-BE49-F238E27FC236}">
                <a16:creationId xmlns:a16="http://schemas.microsoft.com/office/drawing/2014/main" id="{B5E1F874-1A7E-48AB-B508-F5FC582B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ChainLens  체인렌즈</a:t>
            </a:r>
          </a:p>
        </p:txBody>
      </p:sp>
      <p:sp>
        <p:nvSpPr>
          <p:cNvPr id="5" name="text-64">
            <a:extLst xmlns:a="http://schemas.openxmlformats.org/drawingml/2006/main">
              <a:ext uri="{FF2B5EF4-FFF2-40B4-BE49-F238E27FC236}">
                <a16:creationId xmlns:a16="http://schemas.microsoft.com/office/drawing/2014/main" id="{9DDF8592-2140-46D4-9EFA-57674C77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5375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429125"/>
                <a:gridCol w="4238625"/>
              </a:tblGrid>
              <a:tr h="6810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검증 대상</a:t>
                      </a:r>
                    </a:p>
                  </a:txBody>
                  <a:tcPr marL="142875" marR="142875" marT="104775" marB="95250" anchor="ctr">
                    <a:solidFill>
                      <a:srgbClr val="0C274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검증 방법</a:t>
                      </a:r>
                    </a:p>
                  </a:txBody>
                  <a:tcPr marL="142875" marR="142875" marT="104775" marB="95250" anchor="ctr">
                    <a:solidFill>
                      <a:srgbClr val="0C274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판단에 사용할 관측값</a:t>
                      </a:r>
                    </a:p>
                  </a:txBody>
                  <a:tcPr marL="142875" marR="142875" marT="104775" marB="95250" anchor="ctr">
                    <a:solidFill>
                      <a:srgbClr val="0C274B"/>
                    </a:solidFill>
                  </a:tcPr>
                </a:tc>
              </a:tr>
              <a:tr h="6810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초보자 이해도</a:t>
                      </a:r>
                    </a:p>
                  </a:txBody>
                  <a:tcPr marL="142875" marR="142875" marT="10477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탐색기 단독과 ChainLens 조건 비교</a:t>
                      </a:r>
                    </a:p>
                  </a:txBody>
                  <a:tcPr marL="142875" marR="142875" marT="10477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전송·승인·실패 구분 정답률</a:t>
                      </a:r>
                    </a:p>
                  </a:txBody>
                  <a:tcPr marL="142875" marR="142875" marT="104775" marB="95250" anchor="ctr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근거 확인</a:t>
                      </a:r>
                    </a:p>
                  </a:txBody>
                  <a:tcPr marL="142875" marR="142875" marT="104775" marB="95250" anchor="ctr">
                    <a:solidFill>
                      <a:srgbClr val="F7F9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원본 필드·로그를 찾는 과제</a:t>
                      </a:r>
                    </a:p>
                  </a:txBody>
                  <a:tcPr marL="142875" marR="142875" marT="104775" marB="95250" anchor="ctr">
                    <a:solidFill>
                      <a:srgbClr val="F7F9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답변 시간, 근거 찾기 성공률</a:t>
                      </a:r>
                    </a:p>
                  </a:txBody>
                  <a:tcPr marL="142875" marR="142875" marT="104775" marB="95250" anchor="ctr">
                    <a:solidFill>
                      <a:srgbClr val="F7F9FC"/>
                    </a:solidFill>
                  </a:tcPr>
                </a:tc>
              </a:tr>
              <a:tr h="6810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반복 사용</a:t>
                      </a:r>
                    </a:p>
                  </a:txBody>
                  <a:tcPr marL="142875" marR="142875" marT="10477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교육·고객지원 운영자 인터뷰</a:t>
                      </a:r>
                    </a:p>
                  </a:txBody>
                  <a:tcPr marL="142875" marR="142875" marT="10477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도입 조건, 반복 사용 의향</a:t>
                      </a:r>
                    </a:p>
                  </a:txBody>
                  <a:tcPr marL="142875" marR="142875" marT="104775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65">
            <a:extLst xmlns:a="http://schemas.openxmlformats.org/drawingml/2006/main">
              <a:ext uri="{FF2B5EF4-FFF2-40B4-BE49-F238E27FC236}">
                <a16:creationId xmlns:a16="http://schemas.microsoft.com/office/drawing/2014/main" id="{03486338-9520-4486-B2F4-6A88AEF6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3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463DF"/>
                </a:solidFill>
                <a:latin typeface="Apple SD Gothic Neo"/>
                <a:ea typeface="Apple SD Gothic Neo"/>
                <a:cs typeface="Apple SD Gothic Neo"/>
              </a:rPr>
              <a:t>가설</a:t>
            </a:r>
          </a:p>
        </p:txBody>
      </p:sp>
      <p:sp>
        <p:nvSpPr>
          <p:cNvPr id="8" name="text-66">
            <a:extLst xmlns:a="http://schemas.openxmlformats.org/drawingml/2006/main">
              <a:ext uri="{FF2B5EF4-FFF2-40B4-BE49-F238E27FC236}">
                <a16:creationId xmlns:a16="http://schemas.microsoft.com/office/drawing/2014/main" id="{8128AD68-C380-4018-AB91-AB5E6AE4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입문자 8–12명 비교에서 정답률 20%p 개선 또는 답변 시간 30% 감소를 목표로 둡니다.</a:t>
            </a:r>
          </a:p>
        </p:txBody>
      </p:sp>
      <p:sp>
        <p:nvSpPr>
          <p:cNvPr id="9" name="text-67">
            <a:extLst xmlns:a="http://schemas.openxmlformats.org/drawingml/2006/main">
              <a:ext uri="{FF2B5EF4-FFF2-40B4-BE49-F238E27FC236}">
                <a16:creationId xmlns:a16="http://schemas.microsoft.com/office/drawing/2014/main" id="{EBEC6A1D-189A-4267-BE53-A7CBC992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모집 수와 개선율은 계획입니다. 현재 사용자 수, 성과, 매출이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0572124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68">
            <a:extLst xmlns:a="http://schemas.openxmlformats.org/drawingml/2006/main">
              <a:ext uri="{FF2B5EF4-FFF2-40B4-BE49-F238E27FC236}">
                <a16:creationId xmlns:a16="http://schemas.microsoft.com/office/drawing/2014/main" id="{60CE5E5E-1284-49C3-BFAA-5F283276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웹 MVP에서 DeepL형 확장 경험까지 구현했습니다</a:t>
            </a:r>
          </a:p>
        </p:txBody>
      </p:sp>
      <p:sp>
        <p:nvSpPr>
          <p:cNvPr id="2" name="text-69">
            <a:extLst xmlns:a="http://schemas.openxmlformats.org/drawingml/2006/main">
              <a:ext uri="{FF2B5EF4-FFF2-40B4-BE49-F238E27FC236}">
                <a16:creationId xmlns:a16="http://schemas.microsoft.com/office/drawing/2014/main" id="{3560E732-EC49-4233-B29B-28A81745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현재 구현 완료, 다음 검증, 사용자 실험, 공개 준비를 구분합니다.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0A928-D97C-42EB-AA1A-7501C86E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E0EC"/>
            </a:solidFill>
          </a:ln>
        </p:spPr>
      </p:sp>
      <p:sp>
        <p:nvSpPr>
          <p:cNvPr id="4" name="text-70">
            <a:extLst xmlns:a="http://schemas.openxmlformats.org/drawingml/2006/main">
              <a:ext uri="{FF2B5EF4-FFF2-40B4-BE49-F238E27FC236}">
                <a16:creationId xmlns:a16="http://schemas.microsoft.com/office/drawing/2014/main" id="{AA623BD1-D30A-4F59-AD5E-AB091319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ChainLens  체인렌즈</a:t>
            </a:r>
          </a:p>
        </p:txBody>
      </p:sp>
      <p:sp>
        <p:nvSpPr>
          <p:cNvPr id="5" name="text-71">
            <a:extLst xmlns:a="http://schemas.openxmlformats.org/drawingml/2006/main">
              <a:ext uri="{FF2B5EF4-FFF2-40B4-BE49-F238E27FC236}">
                <a16:creationId xmlns:a16="http://schemas.microsoft.com/office/drawing/2014/main" id="{228A3FF0-2A03-42A5-AAFB-B80C307C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5375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57450"/>
                <a:gridCol w="8496300"/>
              </a:tblGrid>
              <a:tr h="60579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시점</a:t>
                      </a:r>
                    </a:p>
                  </a:txBody>
                  <a:tcPr marL="142875" marR="142875" marT="104775" marB="95250" anchor="ctr">
                    <a:solidFill>
                      <a:srgbClr val="0C274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개발 목표·완료 기준</a:t>
                      </a:r>
                    </a:p>
                  </a:txBody>
                  <a:tcPr marL="142875" marR="142875" marT="104775" marB="95250" anchor="ctr">
                    <a:solidFill>
                      <a:srgbClr val="0C274B"/>
                    </a:solidFill>
                  </a:tcPr>
                </a:tc>
              </a:tr>
              <a:tr h="60579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현재 구현 완료</a:t>
                      </a:r>
                    </a:p>
                  </a:txBody>
                  <a:tcPr marL="142875" marR="142875" marT="10477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웹 MVP, Groq live, MV3 확장, ZIP, app 26/26 · extension 14/14, Chrome CUA E2E</a:t>
                      </a:r>
                    </a:p>
                  </a:txBody>
                  <a:tcPr marL="142875" marR="142875" marT="104775" marB="9525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다음 기술 검증</a:t>
                      </a:r>
                    </a:p>
                  </a:txBody>
                  <a:tcPr marL="142875" marR="142875" marT="104775" marB="95250" anchor="ctr">
                    <a:solidFill>
                      <a:srgbClr val="F7F9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키 있는 Groq 장애의 실제 Chrome UI, 필요 시 정확한 확장 화면 캡처</a:t>
                      </a:r>
                    </a:p>
                  </a:txBody>
                  <a:tcPr marL="142875" marR="142875" marT="104775" marB="95250" anchor="ctr">
                    <a:solidFill>
                      <a:srgbClr val="F7F9FC"/>
                    </a:solidFill>
                  </a:tcPr>
                </a:tc>
              </a:tr>
              <a:tr h="60579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사용자 검증</a:t>
                      </a:r>
                    </a:p>
                  </a:txBody>
                  <a:tcPr marL="142875" marR="142875" marT="10477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초보자 이해도 비교와 원본 근거 찾기 성공률 측정</a:t>
                      </a:r>
                    </a:p>
                  </a:txBody>
                  <a:tcPr marL="142875" marR="142875" marT="104775" marB="9525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공개 전</a:t>
                      </a:r>
                    </a:p>
                  </a:txBody>
                  <a:tcPr marL="142875" marR="142875" marT="104775" marB="95250" anchor="ctr">
                    <a:solidFill>
                      <a:srgbClr val="F7F9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공개 backend, 최신 자료, 영상·신청 여부를 별도 확인</a:t>
                      </a:r>
                    </a:p>
                  </a:txBody>
                  <a:tcPr marL="142875" marR="142875" marT="104775" marB="9525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text-72">
            <a:extLst xmlns:a="http://schemas.openxmlformats.org/drawingml/2006/main">
              <a:ext uri="{FF2B5EF4-FFF2-40B4-BE49-F238E27FC236}">
                <a16:creationId xmlns:a16="http://schemas.microsoft.com/office/drawing/2014/main" id="{FDE35FA3-06D5-40DD-BC27-0AC16C1C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3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463DF"/>
                </a:solidFill>
                <a:latin typeface="Apple SD Gothic Neo"/>
                <a:ea typeface="Apple SD Gothic Neo"/>
                <a:cs typeface="Apple SD Gothic Neo"/>
              </a:rPr>
              <a:t>2인 역할</a:t>
            </a:r>
          </a:p>
        </p:txBody>
      </p:sp>
      <p:sp>
        <p:nvSpPr>
          <p:cNvPr id="8" name="text-73">
            <a:extLst xmlns:a="http://schemas.openxmlformats.org/drawingml/2006/main">
              <a:ext uri="{FF2B5EF4-FFF2-40B4-BE49-F238E27FC236}">
                <a16:creationId xmlns:a16="http://schemas.microsoft.com/office/drawing/2014/main" id="{A339649D-F531-4CCB-8C9D-EDE63A89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rPr>
              <a:t>A · 데이터·정확성  Ethereum JSON-RPC, Node.js, BigInt, 이벤트 디코딩·검증</a:t>
            </a:r>
          </a:p>
        </p:txBody>
      </p:sp>
      <p:sp>
        <p:nvSpPr>
          <p:cNvPr id="9" name="text-74">
            <a:extLst xmlns:a="http://schemas.openxmlformats.org/drawingml/2006/main">
              <a:ext uri="{FF2B5EF4-FFF2-40B4-BE49-F238E27FC236}">
                <a16:creationId xmlns:a16="http://schemas.microsoft.com/office/drawing/2014/main" id="{CEC1B423-5ABB-4941-8EF2-1C2F06E0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72B45"/>
                </a:solidFill>
                <a:latin typeface="Apple SD Gothic Neo"/>
                <a:ea typeface="Apple SD Gothic Neo"/>
                <a:cs typeface="Apple SD Gothic Neo"/>
              </a:rPr>
              <a:t>B · 서비스·AI·UX  Chrome MV3, HTML/CSS/JavaScript, Groq 연동, 사용자 실험·시연</a:t>
            </a:r>
          </a:p>
        </p:txBody>
      </p:sp>
    </p:spTree>
    <p:extLst>
      <p:ext uri="{BB962C8B-B14F-4D97-AF65-F5344CB8AC3E}">
        <p14:creationId xmlns:p14="http://schemas.microsoft.com/office/powerpoint/2010/main" val="13627845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75">
            <a:extLst xmlns:a="http://schemas.openxmlformats.org/drawingml/2006/main">
              <a:ext uri="{FF2B5EF4-FFF2-40B4-BE49-F238E27FC236}">
                <a16:creationId xmlns:a16="http://schemas.microsoft.com/office/drawing/2014/main" id="{E44CEDB4-E3D9-464C-897A-0D6D2183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C274B"/>
                </a:solidFill>
                <a:latin typeface="Apple SD Gothic Neo"/>
                <a:ea typeface="Apple SD Gothic Neo"/>
                <a:cs typeface="Apple SD Gothic Neo"/>
              </a:rPr>
              <a:t>구현·검증·남은 검증을 구분해 제출합니다</a:t>
            </a:r>
          </a:p>
        </p:txBody>
      </p:sp>
      <p:sp>
        <p:nvSpPr>
          <p:cNvPr id="2" name="text-76">
            <a:extLst xmlns:a="http://schemas.openxmlformats.org/drawingml/2006/main">
              <a:ext uri="{FF2B5EF4-FFF2-40B4-BE49-F238E27FC236}">
                <a16:creationId xmlns:a16="http://schemas.microsoft.com/office/drawing/2014/main" id="{5E476421-B132-4E86-BBCD-1AFC833A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완료된 검증 근거와 아직 확인하지 못한 항목을 함께 제시합니다.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D8BAF-93BB-49E0-A8CB-7BC1A562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E0EC"/>
            </a:solidFill>
          </a:ln>
        </p:spPr>
      </p:sp>
      <p:sp>
        <p:nvSpPr>
          <p:cNvPr id="4" name="text-77">
            <a:extLst xmlns:a="http://schemas.openxmlformats.org/drawingml/2006/main">
              <a:ext uri="{FF2B5EF4-FFF2-40B4-BE49-F238E27FC236}">
                <a16:creationId xmlns:a16="http://schemas.microsoft.com/office/drawing/2014/main" id="{05EB1C4F-ED5A-4570-A34E-CDFF63E5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ChainLens  체인렌즈</a:t>
            </a:r>
          </a:p>
        </p:txBody>
      </p:sp>
      <p:sp>
        <p:nvSpPr>
          <p:cNvPr id="5" name="text-78">
            <a:extLst xmlns:a="http://schemas.openxmlformats.org/drawingml/2006/main">
              <a:ext uri="{FF2B5EF4-FFF2-40B4-BE49-F238E27FC236}">
                <a16:creationId xmlns:a16="http://schemas.microsoft.com/office/drawing/2014/main" id="{03D9F15F-CF16-466B-9DC9-913B3944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53750" cy="3067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524750"/>
              </a:tblGrid>
              <a:tr h="438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 항목</a:t>
                      </a:r>
                    </a:p>
                  </a:txBody>
                  <a:tcPr marL="142875" marR="142875" marT="104775" marB="95250" anchor="ctr">
                    <a:solidFill>
                      <a:srgbClr val="0C274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현재 근거</a:t>
                      </a:r>
                    </a:p>
                  </a:txBody>
                  <a:tcPr marL="142875" marR="142875" marT="104775" marB="95250" anchor="ctr">
                    <a:solidFill>
                      <a:srgbClr val="0C274B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웹 앱 해석·Groq fallback</a:t>
                      </a:r>
                    </a:p>
                  </a:txBody>
                  <a:tcPr marL="142875" marR="142875" marT="10477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app 26/26 테스트, 기존 실제 RPC 4건 기록</a:t>
                      </a:r>
                    </a:p>
                  </a:txBody>
                  <a:tcPr marL="142875" marR="142875" marT="104775" marB="952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확장 구조·권한·보안 경계</a:t>
                      </a:r>
                    </a:p>
                  </a:txBody>
                  <a:tcPr marL="142875" marR="142875" marT="104775" marB="95250" anchor="ctr">
                    <a:solidFill>
                      <a:srgbClr val="F7F9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extension 14/14, 문법·ZIP 검사</a:t>
                      </a:r>
                    </a:p>
                  </a:txBody>
                  <a:tcPr marL="142875" marR="142875" marT="104775" marB="95250" anchor="ctr">
                    <a:solidFill>
                      <a:srgbClr val="F7F9FC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확장 배포물</a:t>
                      </a:r>
                    </a:p>
                  </a:txBody>
                  <a:tcPr marL="142875" marR="142875" marT="10477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unpacked 확장 + 검증 ZIP</a:t>
                      </a:r>
                    </a:p>
                  </a:txBody>
                  <a:tcPr marL="142875" marR="142875" marT="104775" marB="952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실제 Chrome E2E</a:t>
                      </a:r>
                    </a:p>
                  </a:txBody>
                  <a:tcPr marL="142875" marR="142875" marT="104775" marB="95250" anchor="ctr">
                    <a:solidFill>
                      <a:srgbClr val="F7F9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우클릭·Side Panel, Etherscan·Blockscout 자동 인식 CUA 확인</a:t>
                      </a:r>
                    </a:p>
                  </a:txBody>
                  <a:tcPr marL="142875" marR="142875" marT="104775" marB="95250" anchor="ctr">
                    <a:solidFill>
                      <a:srgbClr val="F7F9FC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Groq live</a:t>
                      </a:r>
                    </a:p>
                  </a:txBody>
                  <a:tcPr marL="142875" marR="142875" marT="10477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openai/gpt-oss-20b AI 모드·guard 통과</a:t>
                      </a:r>
                    </a:p>
                  </a:txBody>
                  <a:tcPr marL="142875" marR="142875" marT="104775" marB="952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공개 링크·영상·신청</a:t>
                      </a:r>
                    </a:p>
                  </a:txBody>
                  <a:tcPr marL="142875" marR="142875" marT="104775" marB="95250" anchor="ctr">
                    <a:solidFill>
                      <a:srgbClr val="F7F9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72B4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미실행</a:t>
                      </a:r>
                    </a:p>
                  </a:txBody>
                  <a:tcPr marL="142875" marR="142875" marT="104775" marB="9525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text-79">
            <a:extLst xmlns:a="http://schemas.openxmlformats.org/drawingml/2006/main">
              <a:ext uri="{FF2B5EF4-FFF2-40B4-BE49-F238E27FC236}">
                <a16:creationId xmlns:a16="http://schemas.microsoft.com/office/drawing/2014/main" id="{8D407E07-026E-44C8-B9B4-E818607A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3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463DF"/>
                </a:solidFill>
                <a:latin typeface="Apple SD Gothic Neo"/>
                <a:ea typeface="Apple SD Gothic Neo"/>
                <a:cs typeface="Apple SD Gothic Neo"/>
              </a:rPr>
              <a:t>레퍼런스</a:t>
            </a:r>
          </a:p>
        </p:txBody>
      </p:sp>
      <p:sp>
        <p:nvSpPr>
          <p:cNvPr id="8" name="text-80">
            <a:extLst xmlns:a="http://schemas.openxmlformats.org/drawingml/2006/main">
              <a:ext uri="{FF2B5EF4-FFF2-40B4-BE49-F238E27FC236}">
                <a16:creationId xmlns:a16="http://schemas.microsoft.com/office/drawing/2014/main" id="{B667A7B7-19C8-4895-B04D-B855F769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BLOCK AI 26 공식 안내 · Chrome contextMenus / activeTab / Side Panel · Groq Models</a:t>
            </a:r>
          </a:p>
          <a:p xmlns:a="http://schemas.openxmlformats.org/drawingml/2006/main">
            <a:pPr>
              <a:defRPr sz="15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Etherscan Experimental Feature · Blockscout Interpreter API · Noves Translate Introduction</a:t>
            </a:r>
          </a:p>
        </p:txBody>
      </p:sp>
      <p:sp>
        <p:nvSpPr>
          <p:cNvPr id="9" name="text-81">
            <a:extLst xmlns:a="http://schemas.openxmlformats.org/drawingml/2006/main">
              <a:ext uri="{FF2B5EF4-FFF2-40B4-BE49-F238E27FC236}">
                <a16:creationId xmlns:a16="http://schemas.microsoft.com/office/drawing/2014/main" id="{89920BC0-F15B-4F76-A63B-C06323C4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B80"/>
                </a:solidFill>
                <a:latin typeface="Apple SD Gothic Neo"/>
                <a:ea typeface="Apple SD Gothic Neo"/>
                <a:cs typeface="Apple SD Gothic Neo"/>
              </a:rPr>
              <a:t>정적·단위 검사와 CUA E2E는 공개 배포, Web Store 승인, 전체 거래 정확도를 뜻하지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412650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2026-09-12T10:30:16.0260000Z</dcterms:created>
  <dcterms:modified xsi:type="dcterms:W3CDTF">2026-09-12T10:30:16.0260000Z</dcterms:modified>
</coreProperties>
</file>